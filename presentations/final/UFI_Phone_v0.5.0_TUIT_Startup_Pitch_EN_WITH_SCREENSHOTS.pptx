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4008442f454361" /><Relationship Type="http://schemas.openxmlformats.org/officeDocument/2006/relationships/extended-properties" Target="/docProps/app.xml" Id="R1dd409b10e584972" /><Relationship Type="http://schemas.openxmlformats.org/officeDocument/2006/relationships/officeDocument" Target="/ppt/presentation.xml" Id="R0239dfbd7d1148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50cc47cb2442ab"/>
  </p:sldMasterIdLst>
  <p:notesMasterIdLst>
    <p:notesMasterId xmlns:r="http://schemas.openxmlformats.org/officeDocument/2006/relationships" r:id="R0c905d5dac534472"/>
  </p:notesMasterIdLst>
  <p:sldIdLst>
    <p:sldId xmlns:r="http://schemas.openxmlformats.org/officeDocument/2006/relationships" id="256" r:id="R91b7a877e7b04671"/>
    <p:sldId xmlns:r="http://schemas.openxmlformats.org/officeDocument/2006/relationships" id="257" r:id="Rb69bb37a285c4865"/>
    <p:sldId xmlns:r="http://schemas.openxmlformats.org/officeDocument/2006/relationships" id="258" r:id="Rdeba945546164797"/>
    <p:sldId xmlns:r="http://schemas.openxmlformats.org/officeDocument/2006/relationships" id="259" r:id="R3bed9849ce254e79"/>
    <p:sldId xmlns:r="http://schemas.openxmlformats.org/officeDocument/2006/relationships" id="260" r:id="R2b4740fdbac44d27"/>
    <p:sldId xmlns:r="http://schemas.openxmlformats.org/officeDocument/2006/relationships" id="261" r:id="R6f644e09913448b6"/>
    <p:sldId xmlns:r="http://schemas.openxmlformats.org/officeDocument/2006/relationships" id="262" r:id="R435c225020544675"/>
    <p:sldId xmlns:r="http://schemas.openxmlformats.org/officeDocument/2006/relationships" id="263" r:id="R544938c5835e43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4074cddbe04165" /><Relationship Type="http://schemas.openxmlformats.org/officeDocument/2006/relationships/slideMaster" Target="/ppt/slideMasters/slideMaster1.xml" Id="R7f50cc47cb2442ab" /><Relationship Type="http://schemas.openxmlformats.org/officeDocument/2006/relationships/notesMaster" Target="/ppt/notesMasters/notesMaster1.xml" Id="R0c905d5dac534472" /><Relationship Type="http://schemas.openxmlformats.org/officeDocument/2006/relationships/presProps" Target="/ppt/presProps.xml" Id="R08ad572ef1284674" /><Relationship Type="http://schemas.openxmlformats.org/officeDocument/2006/relationships/tableStyles" Target="/ppt/tableStyles.xml" Id="R7d7d3b7411d04029" /><Relationship Type="http://schemas.openxmlformats.org/officeDocument/2006/relationships/slide" Target="/ppt/slides/slide1.xml" Id="R91b7a877e7b04671" /><Relationship Type="http://schemas.openxmlformats.org/officeDocument/2006/relationships/slide" Target="/ppt/slides/slide2.xml" Id="Rb69bb37a285c4865" /><Relationship Type="http://schemas.openxmlformats.org/officeDocument/2006/relationships/slide" Target="/ppt/slides/slide3.xml" Id="Rdeba945546164797" /><Relationship Type="http://schemas.openxmlformats.org/officeDocument/2006/relationships/slide" Target="/ppt/slides/slide4.xml" Id="R3bed9849ce254e79" /><Relationship Type="http://schemas.openxmlformats.org/officeDocument/2006/relationships/slide" Target="/ppt/slides/slide5.xml" Id="R2b4740fdbac44d27" /><Relationship Type="http://schemas.openxmlformats.org/officeDocument/2006/relationships/slide" Target="/ppt/slides/slide6.xml" Id="R6f644e09913448b6" /><Relationship Type="http://schemas.openxmlformats.org/officeDocument/2006/relationships/slide" Target="/ppt/slides/slide7.xml" Id="R435c225020544675" /><Relationship Type="http://schemas.openxmlformats.org/officeDocument/2006/relationships/slide" Target="/ppt/slides/slide8.xml" Id="R544938c5835e43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7f192c527149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7a62f42b034d45" /><Relationship Type="http://schemas.openxmlformats.org/officeDocument/2006/relationships/notesMaster" Target="/ppt/notesMasters/notesMaster1.xml" Id="Re6a41a2cc77946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3cd27f30974c13" /><Relationship Type="http://schemas.openxmlformats.org/officeDocument/2006/relationships/notesMaster" Target="/ppt/notesMasters/notesMaster1.xml" Id="Rbf1f816cc50d42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09a7fc63d24af1" /><Relationship Type="http://schemas.openxmlformats.org/officeDocument/2006/relationships/notesMaster" Target="/ppt/notesMasters/notesMaster1.xml" Id="R1338584cd14640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a154bd1db54da1" /><Relationship Type="http://schemas.openxmlformats.org/officeDocument/2006/relationships/notesMaster" Target="/ppt/notesMasters/notesMaster1.xml" Id="R712be8a6b4cf48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4f4f93088b4c36" /><Relationship Type="http://schemas.openxmlformats.org/officeDocument/2006/relationships/notesMaster" Target="/ppt/notesMasters/notesMaster1.xml" Id="Rf81f5927dbb54a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696ac725264814" /><Relationship Type="http://schemas.openxmlformats.org/officeDocument/2006/relationships/notesMaster" Target="/ppt/notesMasters/notesMaster1.xml" Id="Ra162647377e945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7274d3d1e54fa8" /><Relationship Type="http://schemas.openxmlformats.org/officeDocument/2006/relationships/notesMaster" Target="/ppt/notesMasters/notesMaster1.xml" Id="R1fc64ee11f554e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80668b57df4df0" /><Relationship Type="http://schemas.openxmlformats.org/officeDocument/2006/relationships/notesMaster" Target="/ppt/notesMasters/notesMaster1.xml" Id="R61eff953406b47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evidence: UFI Phone v0.5.0 at repository commit 3cd8b565191dec47d1df9f079d8dd2b0ecd5529b. The repository documents direct local SMS, incoming and outgoing ordinary carrier calls, two-way audio, call history, incoming-call UI, radio-mode recovery, Android, Linux and Windows clients.</a:t>
            </a:r>
          </a:p>
          <a:p xmlns:a="http://schemas.openxmlformats.org/drawingml/2006/main">
            <a:r>
              <a:t>https://github.com/Ruskuv1708/ufi-sms-telegram-forwarder/commit/3cd8b565191dec47d1df9f079d8dd2b0ecd5529b</a:t>
            </a:r>
          </a:p>
          <a:p xmlns:a="http://schemas.openxmlformats.org/drawingml/2006/main">
            <a:r>
              <a:t>https://github.com/Ruskuv1708/ufi-sms-telegram-forwarder/blob/3cd8b565191dec47d1df9f079d8dd2b0ecd5529b/README.md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cover illustration contains no customer data and does not depict the tested physical device.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capture and repository evidence: the two images are direct captures of the shipped Linux desktop client in desktop/ufi_phone_desktop.py. The capture harness disables network polling and injects clearly synthetic call and message records; no gateway token, private configuration, real phone number or customer message is used.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interface supports direct local SMS receive/read/send, incoming and outgoing ordinary carrier calls, two-way audio and up to 100 local call-history entries. Telegram remains an optional compatibility path and the installer leaves it disabled.</a:t>
            </a:r>
          </a:p>
          <a:p xmlns:a="http://schemas.openxmlformats.org/drawingml/2006/main">
            <a:r>
              <a:t>https://github.com/Ruskuv1708/ufi-sms-telegram-forwarder/blob/3cd8b565191dec47d1df9f079d8dd2b0ecd5529b/README.md</a:t>
            </a:r>
          </a:p>
          <a:p xmlns:a="http://schemas.openxmlformats.org/drawingml/2006/main">
            <a:r>
              <a:t>https://github.com/Ruskuv1708/ufi-sms-telegram-forwarder/blob/3cd8b565191dec47d1df9f079d8dd2b0ecd5529b/docs/product-vision.md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Technical boundary: the tested UFI003 firmware has no usable IMS stack. Ucell calls work by moving from LTE data to WCDMA/HSPA for circuit-switched voice, then returning to LTE. Operator VoLTE availability and modem IMS capability are separate facts.</a:t>
            </a:r>
          </a:p>
          <a:p xmlns:a="http://schemas.openxmlformats.org/drawingml/2006/main">
            <a:r>
              <a:t>https://github.com/Ruskuv1708/ufi-sms-telegram-forwarder/blob/3cd8b565191dec47d1df9f079d8dd2b0ecd5529b/README.md</a:t>
            </a:r>
          </a:p>
          <a:p xmlns:a="http://schemas.openxmlformats.org/drawingml/2006/main">
            <a:r>
              <a:t>https://github.com/Ruskuv1708/ufi-sms-telegram-forwarder/blob/3cd8b565191dec47d1df9f079d8dd2b0ecd5529b/hardware-profiles.json</a:t>
            </a:r>
          </a:p>
          <a:p xmlns:a="http://schemas.openxmlformats.org/drawingml/2006/main">
            <a:r>
              <a:t>https://github.com/Ruskuv1708/ufi-sms-telegram-forwarder/blob/3cd8b565191dec47d1df9f079d8dd2b0ecd5529b/docs/uzbekistan-market-and-operator-compatibility.md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gateway is restricted to the modem LAN and requires a pairing token. The current scope excludes emergency numbers, short codes, service codes, supplementary services and native IMS/VoLTE.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 evidence: GitHub Actions run #3 for build commit 116de4779f0a3eed155390c43de84b1bb24f3df5 finished successfully and produced three artifacts: Android AAB (660 KB), Linux x86_64 executable (23 MB) and Windows x86_64 executable (11.9 MB).</a:t>
            </a:r>
          </a:p>
          <a:p xmlns:a="http://schemas.openxmlformats.org/drawingml/2006/main">
            <a:r>
              <a:t>https://github.com/Ruskuv1708/ufi-sms-telegram-forwarder/actions/runs/35964803887</a:t>
            </a:r>
          </a:p>
          <a:p xmlns:a="http://schemas.openxmlformats.org/drawingml/2006/main">
            <a:r>
              <a:t>https://github.com/Ruskuv1708/ufi-sms-telegram-forwarder/commit/116de4779f0a3eed155390c43de84b1bb24f3df5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current repository state is 3cd8b565191dec47d1df9f079d8dd2b0ecd5529b. It consolidates the product, presentation source and release-artifact documentation in one workspace.</a:t>
            </a:r>
          </a:p>
          <a:p xmlns:a="http://schemas.openxmlformats.org/drawingml/2006/main">
            <a:r>
              <a:t>https://github.com/Ruskuv1708/ufi-sms-telegram-forwarder/commit/3cd8b565191dec47d1df9f079d8dd2b0ecd5529b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Android targets API 36. The repository contains the responsive Google-style Calls, Keypad and Messages interface, including the corrected landscape keypad. Only the ordinary Android companion belongs in Google Play. The privileged modem gateway remains behind the exact-profile installer.</a:t>
            </a:r>
          </a:p>
          <a:p xmlns:a="http://schemas.openxmlformats.org/drawingml/2006/main">
            <a:r>
              <a:t>https://github.com/Ruskuv1708/ufi-sms-telegram-forwarder/blob/3cd8b565191dec47d1df9f079d8dd2b0ecd5529b/distribution/google-play/release-checklist.md</a:t>
            </a:r>
          </a:p>
          <a:p xmlns:a="http://schemas.openxmlformats.org/drawingml/2006/main">
            <a:r>
              <a:t>https://github.com/Ruskuv1708/ufi-sms-telegram-forwarder/blob/3cd8b565191dec47d1df9f079d8dd2b0ecd5529b/docs/adding-hardware-profiles.md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assumptions:</a:t>
            </a:r>
          </a:p>
          <a:p xmlns:a="http://schemas.openxmlformats.org/drawingml/2006/main">
            <a:r>
              <a:t>- Apple showed a $150 difference between Wi-Fi and Wi-Fi + Cellular at the same base iPad storage tier on 24 September 2026. Ten devices add $1,500. https://www.apple.com/shop/buy-ipad/ipad</a:t>
            </a:r>
          </a:p>
          <a:p xmlns:a="http://schemas.openxmlformats.org/drawingml/2006/main">
            <a:r>
              <a:t>- RingCentral Essentials started at $19.99 per user each month with annual billing on 24 September 2026. Ten users for 12 months cost $2,398.80, rounded to $2,399. https://www.ringcentral.com/shared/content/plans-and-pricing.html</a:t>
            </a:r>
          </a:p>
          <a:p xmlns:a="http://schemas.openxmlformats.org/drawingml/2006/main">
            <a:r>
              <a:t>- UFI Phone pilot pricing remains a hypothesis: $49 starter kit + $3 × 10 active devices × 12 months = $409 in year one. The $10 modem price is the founder's purchase price and is not a supplier quote or validated scalable BOM.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compares budget anchors rather than equivalent products. RingCentral includes a broad UCaaS feature set. Cellular iPad pricing buys data connectivity rather than this local carrier-call gateway.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Market evidence: Uzbekistan had 36.3483 million mobile subscriptions, or 96.6 per 100 residents, as of 1 April 2025. The national competition authority identifies six operators. These figures show market scale and do not forecast UFI Phone demand.</a:t>
            </a:r>
          </a:p>
          <a:p xmlns:a="http://schemas.openxmlformats.org/drawingml/2006/main">
            <a:r>
              <a:t>https://stat.uz/files/538/2025-Choraklik-natijalar-january--march-ang/3940/Report-for-January-March-2025.pdf</a:t>
            </a:r>
          </a:p>
          <a:p xmlns:a="http://schemas.openxmlformats.org/drawingml/2006/main">
            <a:r>
              <a:t>https://raqobat.gov.uz/ru/rezultaty-analiza-rynka-uslug-mobilnoj-svyazi/</a:t>
            </a:r>
          </a:p>
          <a:p xmlns:a="http://schemas.openxmlformats.org/drawingml/2006/main">
            <a:r>
              <a:t>https://github.com/Ruskuv1708/ufi-sms-telegram-forwarder/blob/3cd8b565191dec47d1df9f079d8dd2b0ecd5529b/docs/uzbekistan-market-and-operator-compatibility.md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Customer segments, channel design and paid-pilot sequencing remain hypotheses for validation. The image is generated and illustrative; it contains no real customer, call or message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Operator evidence:</a:t>
            </a:r>
          </a:p>
          <a:p xmlns:a="http://schemas.openxmlformats.org/drawingml/2006/main">
            <a:r>
              <a:t>- Ucell VoLTE/ViLTE announcement: https://ucell.uz/en/company_news/ucell_volte_vilte-_texnologiyalarining_yangi_ufqlari</a:t>
            </a:r>
          </a:p>
          <a:p xmlns:a="http://schemas.openxmlformats.org/drawingml/2006/main">
            <a:r>
              <a:t>- Mobiuz VoLTE and 2G/3G fallback: https://corp.mobi.uz/en/uslugi/volte/?VOICE=Y</a:t>
            </a:r>
          </a:p>
          <a:p xmlns:a="http://schemas.openxmlformats.org/drawingml/2006/main">
            <a:r>
              <a:t>- Uzmobile VoLTE and 2G/3G handover: https://uztelecom.uz/en/for-individuals/mobile-communication/gsm/services/additional-services/volte/</a:t>
            </a:r>
          </a:p>
          <a:p xmlns:a="http://schemas.openxmlformats.org/drawingml/2006/main">
            <a:r>
              <a:t>- Beeline VoLTE requirements: https://b2b.beeline.uz/en/products/services/volte</a:t>
            </a:r>
          </a:p>
          <a:p xmlns:a="http://schemas.openxmlformats.org/drawingml/2006/main">
            <a:r>
              <a:t>- Humans network information: https://qr.humans.uz/ru/telecom</a:t>
            </a:r>
          </a:p>
          <a:p xmlns:a="http://schemas.openxmlformats.org/drawingml/2006/main">
            <a:r>
              <a:t>- Perfectum CDMA and supported-device ecosystem: https://perfectum.uz/uz/cdma and https://perfectum.uz/uz/pages/sotni-ustroistv</a:t>
            </a:r>
          </a:p>
          <a:p xmlns:a="http://schemas.openxmlformats.org/drawingml/2006/main">
            <a:r>
              <a:t>- Project compatibility report and required SIM acceptance matrix: https://github.com/Ruskuv1708/ufi-sms-telegram-forwarder/blob/3cd8b565191dec47d1df9f079d8dd2b0ecd5529b/docs/uzbekistan-market-and-operator-compatibility.md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Only Ucell has passed the project's LTE data, direct SMS, incoming/outgoing call and two-way-audio tests on this exact UFI003. Mobiuz, Uzmobile, Beeline and Humans require actual SIM and tariff validation. Perfectum paths are unsupported on this hardware.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Publisher and platform sources:</a:t>
            </a:r>
          </a:p>
          <a:p xmlns:a="http://schemas.openxmlformats.org/drawingml/2006/main">
            <a:r>
              <a:t>- Google Play checklist and current project prerequisites: https://github.com/Ruskuv1708/ufi-sms-telegram-forwarder/blob/3cd8b565191dec47d1df9f079d8dd2b0ecd5529b/distribution/google-play/release-checklist.md</a:t>
            </a:r>
          </a:p>
          <a:p xmlns:a="http://schemas.openxmlformats.org/drawingml/2006/main">
            <a:r>
              <a:t>- Target API requirements: https://support.google.com/googleplay/android-developer/answer/11926878?hl=en</a:t>
            </a:r>
          </a:p>
          <a:p xmlns:a="http://schemas.openxmlformats.org/drawingml/2006/main">
            <a:r>
              <a:t>- Android App Bundles: https://developer.android.com/guide/app-bundle</a:t>
            </a:r>
          </a:p>
          <a:p xmlns:a="http://schemas.openxmlformats.org/drawingml/2006/main">
            <a:r>
              <a:t>- Play App Signing: https://developer.android.com/studio/publish/app-signing</a:t>
            </a:r>
          </a:p>
          <a:p xmlns:a="http://schemas.openxmlformats.org/drawingml/2006/main">
            <a:r>
              <a:t>- Production access for new personal accounts: https://support.google.com/googleplay/android-developer/answer/14151465?hl=en</a:t>
            </a:r>
          </a:p>
          <a:p xmlns:a="http://schemas.openxmlformats.org/drawingml/2006/main">
            <a:r>
              <a:t>- Apple platform roadmap: https://github.com/Ruskuv1708/ufi-sms-telegram-forwarder/blob/3cd8b565191dec47d1df9f079d8dd2b0ecd5529b/docs/apple-platform-roadmap.md</a:t>
            </a:r>
          </a:p>
          <a:p xmlns:a="http://schemas.openxmlformats.org/drawingml/2006/main">
            <a:r>
              <a:t>- Apple local-network privacy: https://developer.apple.com/documentation/technotes/tn3179-understanding-local-network-privacy</a:t>
            </a:r>
          </a:p>
          <a:p xmlns:a="http://schemas.openxmlformats.org/drawingml/2006/main">
            <a:r>
              <a:t>- CallKit: https://developer.apple.com/documentation/CallKit</a:t>
            </a:r>
          </a:p>
          <a:p xmlns:a="http://schemas.openxmlformats.org/drawingml/2006/main">
            <a:r>
              <a:t>- macOS notarization: https://developer.apple.com/documentation/Security/notarizing-macos-software-before-distribution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macOS is the recommended first Apple platform. An iPadOS foreground companion can use the local modem connection, but reliable background incoming calls require a compliant push architecture. That choice adds a server and changes the current local-only privacy model. Milestones and pilot counts are proposed targets, not completed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d835c9722944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768753b65b4b20" /><Relationship Type="http://schemas.openxmlformats.org/officeDocument/2006/relationships/slideLayout" Target="/ppt/slideLayouts/slideLayout1.xml" Id="Re9ae3cc4517d48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ae3cc4517d48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70147e4b744a66" /><Relationship Type="http://schemas.openxmlformats.org/officeDocument/2006/relationships/image" Target="/ppt/media/image.png" Id="R1208012778a14bb7" /><Relationship Type="http://schemas.openxmlformats.org/officeDocument/2006/relationships/image" Target="/ppt/media/image2.png" Id="Rd0ca16fb690b4546" /><Relationship Type="http://schemas.openxmlformats.org/officeDocument/2006/relationships/notesSlide" Target="/ppt/notesSlides/notesSlide1.xml" Id="Re3d322d35abb47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42ea1087a0419b" /><Relationship Type="http://schemas.openxmlformats.org/officeDocument/2006/relationships/image" Target="/ppt/media/image3.png" Id="Racc7606149004860" /><Relationship Type="http://schemas.openxmlformats.org/officeDocument/2006/relationships/image" Target="/ppt/media/image4.png" Id="Ra0bcd9369e734cb4" /><Relationship Type="http://schemas.openxmlformats.org/officeDocument/2006/relationships/notesSlide" Target="/ppt/notesSlides/notesSlide2.xml" Id="Ree4cd10468384f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6bfbda5bc944f4" /><Relationship Type="http://schemas.openxmlformats.org/officeDocument/2006/relationships/notesSlide" Target="/ppt/notesSlides/notesSlide3.xml" Id="Rd607cf490c2548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0c752a96042dd" /><Relationship Type="http://schemas.openxmlformats.org/officeDocument/2006/relationships/notesSlide" Target="/ppt/notesSlides/notesSlide4.xml" Id="R52cb07e42c9547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1f4a4285e5402c" /><Relationship Type="http://schemas.openxmlformats.org/officeDocument/2006/relationships/chart" Target="/ppt/slides/charts/chart1.xml" Id="R060ad0a4afdf460e" /><Relationship Type="http://schemas.openxmlformats.org/officeDocument/2006/relationships/notesSlide" Target="/ppt/notesSlides/notesSlide5.xml" Id="Rfb7706bb0f624c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754a8bf2a047c7" /><Relationship Type="http://schemas.openxmlformats.org/officeDocument/2006/relationships/image" Target="/ppt/media/image5.png" Id="Rd1052b0e64de4fe5" /><Relationship Type="http://schemas.openxmlformats.org/officeDocument/2006/relationships/notesSlide" Target="/ppt/notesSlides/notesSlide6.xml" Id="R79207e069cdc4c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50d34b3b594e3d" /><Relationship Type="http://schemas.openxmlformats.org/officeDocument/2006/relationships/notesSlide" Target="/ppt/notesSlides/notesSlide7.xml" Id="Rac76eb3f1eed42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29518253214e6b" /><Relationship Type="http://schemas.openxmlformats.org/officeDocument/2006/relationships/notesSlide" Target="/ppt/notesSlides/notesSlide8.xml" Id="R766ded9bb738480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USD</c:v>
          </c:tx>
          <c:spPr>
            <a:solidFill xmlns:a="http://schemas.openxmlformats.org/drawingml/2006/main">
              <a:srgbClr val="23C9D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19AA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4A62A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4B6BFB"/>
              </a:solidFill>
            </c:spPr>
          </c:dPt>
          <c:cat>
            <c:strLit>
              <c:ptCount val="3"/>
              <c:pt idx="0">
                <c:v>UFI Phone pilot target*</c:v>
              </c:pt>
              <c:pt idx="1">
                <c:v>Apple cellular premium ×10</c:v>
              </c:pt>
              <c:pt idx="2">
                <c:v>RingCentral Essentials ×10</c:v>
              </c:pt>
            </c:strLit>
          </c:cat>
          <c:val>
            <c:numLit>
              <c:formatCode>$#,##0</c:formatCode>
              <c:ptCount val="3"/>
              <c:pt idx="0">
                <c:v>409</c:v>
              </c:pt>
              <c:pt idx="1">
                <c:v>1500</c:v>
              </c:pt>
              <c:pt idx="2">
                <c:v>2399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02633"/>
                  </a:solidFill>
                  <a:latin typeface="Noto Sans"/>
                  <a:ea typeface="Noto Sans"/>
                  <a:cs typeface="Noto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08012778a14bb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7C93D2-9EA9-4146-958D-0B5B8BFA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A2B"/>
              </a:gs>
              <a:gs pos="65000">
                <a:srgbClr val="071A2B">
                  <a:alpha val="92000"/>
                </a:srgbClr>
              </a:gs>
              <a:gs pos="100000">
                <a:srgbClr val="071A2B">
                  <a:alpha val="20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ca16fb690b4546"/>
          <a:stretch xmlns:a="http://schemas.openxmlformats.org/drawingml/2006/main"/>
        </p:blipFill>
        <p:spPr>
          <a:xfrm xmlns:a="http://schemas.openxmlformats.org/drawingml/2006/main">
            <a:off x="704850" y="4572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FB855D-E743-4BDC-AD2F-FFAC6462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571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80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480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UFI Phone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BF2BD0-0A9E-401A-AC83-5C3F6F91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24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4B6BFB"/>
                </a:solidFill>
                <a:latin typeface="Noto Sans"/>
                <a:ea typeface="Noto Sans"/>
                <a:cs typeface="Noto Sans"/>
              </a:defRPr>
            </a:pPr>
            <a:r>
              <a:rPr sz="2025" b="1" i="0">
                <a:solidFill>
                  <a:srgbClr val="4B6BFB"/>
                </a:solidFill>
                <a:latin typeface="Noto Sans"/>
                <a:ea typeface="Noto Sans"/>
                <a:cs typeface="Noto Sans"/>
              </a:rPr>
              <a:t>v0.5.0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07AE6F-5B35-4FFF-9687-7AABBAB7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5191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217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Private carrier calls and SMS on the screens you already own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FC3C8C-A594-4258-B5D4-02528F82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3C9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62C429-253C-4C08-AB1D-EAD243FC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575" b="0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Tested UFI003 profile with Ucell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1294E1-9051-465B-9602-52AD3086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2435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C6D8DF"/>
                </a:solidFill>
                <a:latin typeface="Noto Sans"/>
                <a:ea typeface="Noto Sans"/>
                <a:cs typeface="Noto Sans"/>
              </a:defRPr>
            </a:pPr>
            <a:r>
              <a:rPr sz="1575" b="0" i="0">
                <a:solidFill>
                  <a:srgbClr val="C6D8DF"/>
                </a:solidFill>
                <a:latin typeface="Noto Sans"/>
                <a:ea typeface="Noto Sans"/>
                <a:cs typeface="Noto Sans"/>
              </a:rPr>
              <a:t>Android, Linux and Windows release artifacts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EF1FAD-17A9-4A87-9DE9-EF09C67E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150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9EB5C0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9EB5C0"/>
                </a:solidFill>
                <a:latin typeface="Noto Sans"/>
                <a:ea typeface="Noto Sans"/>
                <a:cs typeface="Noto Sans"/>
              </a:rPr>
              <a:t>TUIT startup pitch  /  24 September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38E313-EEE7-4D8C-992A-337AD386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953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EN</a:t>
            </a:r>
          </a:p>
        </p:txBody>
      </p:sp>
    </p:spTree>
    <p:extLst>
      <p:ext uri="{BB962C8B-B14F-4D97-AF65-F5344CB8AC3E}">
        <p14:creationId xmlns:p14="http://schemas.microsoft.com/office/powerpoint/2010/main" val="11582207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B63246-5C18-4EAE-A35D-A6EB2904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46E4CB-DB2C-4705-A675-A1F94E15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UFI PHONE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D4005C-2D76-45B8-A045-846C5483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UFI Phone, running today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A4F1E1-1B73-4ED5-BE03-154886BC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Real desktop-client captures: calls and SMS stay on the modem's local network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755C00-D664-43A4-B23D-AB59B2E2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5353050" cy="36385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F8FBFC"/>
          </a:solidFill>
          <a:ln xmlns:a="http://schemas.openxmlformats.org/drawingml/2006/main" w="9525">
            <a:solidFill>
              <a:srgbClr val="CB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B4EC94-D3C1-421A-B71D-9F9BE86E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5353050" cy="36385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F8FBFC"/>
          </a:solidFill>
          <a:ln xmlns:a="http://schemas.openxmlformats.org/drawingml/2006/main" w="9525">
            <a:solidFill>
              <a:srgbClr val="CBD9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c7606149004860"/>
          <a:stretch xmlns:a="http://schemas.openxmlformats.org/drawingml/2006/main"/>
        </p:blipFill>
        <p:spPr>
          <a:xfrm xmlns:a="http://schemas.openxmlformats.org/drawingml/2006/main">
            <a:off x="633413" y="1866900"/>
            <a:ext cx="5229225" cy="34861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bcd9369e734cb4"/>
          <a:stretch xmlns:a="http://schemas.openxmlformats.org/drawingml/2006/main"/>
        </p:blipFill>
        <p:spPr>
          <a:xfrm xmlns:a="http://schemas.openxmlformats.org/drawingml/2006/main">
            <a:off x="6329363" y="1866900"/>
            <a:ext cx="5229225" cy="34861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0C3A30-8ACD-4C07-B908-92BFB788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435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119AAA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119AAA"/>
                </a:solidFill>
                <a:latin typeface="Noto Sans"/>
                <a:ea typeface="Noto Sans"/>
                <a:cs typeface="Noto Sans"/>
              </a:rPr>
              <a:t>CALLS &amp; HISTORY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CD4D4E-9632-4BC1-9298-68901A10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9120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63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163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Answer, hang up, connect two-way audio and retain the latest 100 calls.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6CF714-F059-4199-B0A6-99962853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5435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4B6BFB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4B6BFB"/>
                </a:solidFill>
                <a:latin typeface="Noto Sans"/>
                <a:ea typeface="Noto Sans"/>
                <a:cs typeface="Noto Sans"/>
              </a:rPr>
              <a:t>DIRECT SMS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6947C1-2FC5-45AD-9D34-8F518B25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79120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63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163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Read and send messages directly over the authenticated private LAN.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27C368-AD16-4CC9-A4EE-DDEFE425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19825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9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EEB3F9-043F-451D-9695-BD69F844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63" b="0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863" b="0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Captured from the Linux desktop client with synthetic demo data; no customer information is shown.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52DA18-9BCA-4757-904D-1C0C4110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TUIT startup pitch, 24 Sep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BCCA8C-3E80-497C-BE8E-00A58306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531234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" name=""/>
          <p:cNvCxnSpPr>
            <a:stCxn xmlns:a="http://schemas.openxmlformats.org/drawingml/2006/main" id="9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382000" y="2752725"/>
            <a:ext cx="857250" cy="1257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CDDE5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9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382000" y="2752725"/>
            <a:ext cx="857250" cy="3429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CDDE5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8382000" y="2181225"/>
            <a:ext cx="857250" cy="571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CDDE5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619750" y="27527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C9D7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76500" y="27527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3C9D7"/>
            </a:solidFill>
            <a:prstDash val="solid"/>
            <a:headEnd type="triangle" w="sm" len="sm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CB779A-4D37-4EDD-BA21-738D8CFA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1720A1-2B3E-41C4-A4F6-4C370D80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9DB4BF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9DB4BF"/>
                </a:solidFill>
                <a:latin typeface="Noto Sans"/>
                <a:ea typeface="Noto Sans"/>
                <a:cs typeface="Noto Sans"/>
              </a:rPr>
              <a:t>UFI PHONE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C2E1C0-D697-4C85-A00C-AFEDF01F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22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322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Product architecture and technical limits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4C00F6-7F87-4D5D-89F1-9EF6978D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9DB4BF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9DB4BF"/>
                </a:solidFill>
                <a:latin typeface="Noto Sans"/>
                <a:ea typeface="Noto Sans"/>
                <a:cs typeface="Noto Sans"/>
              </a:rPr>
              <a:t>The tested UFI003 owns the SIM, radio state, carrier call and SMS store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371140-2F7E-40E3-A91A-66FA83AB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809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D2B3E"/>
          </a:solidFill>
          <a:ln xmlns:a="http://schemas.openxmlformats.org/drawingml/2006/main" w="14288">
            <a:solidFill>
              <a:srgbClr val="31506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613CA9-FF1C-4C59-929C-C08009FD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46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87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Mobile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87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network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6E0F28-4036-4D00-B017-E97A39BE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38350"/>
            <a:ext cx="2476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8F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CB572E-4933-415E-84BB-C88F587F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05050"/>
            <a:ext cx="209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725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Tested UFI003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725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SIM, radio and gateway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A2CCF7-0AC5-4301-9889-167D24E5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2190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3C9D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16E66A-5A57-4B91-AFC5-24CEB0B4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05050"/>
            <a:ext cx="171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071A2B"/>
                </a:solidFill>
                <a:latin typeface="Noto Sans"/>
                <a:ea typeface="Noto Sans"/>
                <a:cs typeface="Noto Sans"/>
              </a:defRPr>
            </a:pPr>
            <a:r>
              <a:rPr sz="1725" b="1" i="0">
                <a:solidFill>
                  <a:srgbClr val="071A2B"/>
                </a:solidFill>
                <a:latin typeface="Noto Sans"/>
                <a:ea typeface="Noto Sans"/>
                <a:cs typeface="Noto Sans"/>
              </a:rPr>
              <a:t>Authenticated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071A2B"/>
                </a:solidFill>
                <a:latin typeface="Noto Sans"/>
                <a:ea typeface="Noto Sans"/>
                <a:cs typeface="Noto Sans"/>
              </a:defRPr>
            </a:pPr>
            <a:r>
              <a:rPr sz="1725" b="1" i="0">
                <a:solidFill>
                  <a:srgbClr val="071A2B"/>
                </a:solidFill>
                <a:latin typeface="Noto Sans"/>
                <a:ea typeface="Noto Sans"/>
                <a:cs typeface="Noto Sans"/>
              </a:rPr>
              <a:t>private 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B67DDC-FA50-4496-BC13-BE35E663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09750"/>
            <a:ext cx="209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A4E"/>
          </a:solidFill>
          <a:ln xmlns:a="http://schemas.openxmlformats.org/drawingml/2006/main" w="9525">
            <a:solidFill>
              <a:srgbClr val="3E66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C5D887-443D-4399-A1E5-2F44AAFA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24150"/>
            <a:ext cx="209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A4E"/>
          </a:solidFill>
          <a:ln xmlns:a="http://schemas.openxmlformats.org/drawingml/2006/main" w="9525">
            <a:solidFill>
              <a:srgbClr val="3E66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48A3B1-20FD-4D49-BB67-53BDA6F1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38550"/>
            <a:ext cx="209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A4E"/>
          </a:solidFill>
          <a:ln xmlns:a="http://schemas.openxmlformats.org/drawingml/2006/main" w="9525">
            <a:solidFill>
              <a:srgbClr val="3E66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0A8876-CDE4-4248-9E15-6AB8A90E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1930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Android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794111-D437-4F78-A55B-CF6101D1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3370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Linux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50A960-7042-494A-A697-B82036A7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84810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Windows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46B202-87E5-4A13-87D6-F3453FE1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50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Voice path: LTE data hands the call to WCDMA/HSPA for 2G/3G circuit-switched audio.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7C4EA1-65E5-4A92-BB04-7179D12E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86300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C3D5DC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C3D5DC"/>
                </a:solidFill>
                <a:latin typeface="Noto Sans"/>
                <a:ea typeface="Noto Sans"/>
                <a:cs typeface="Noto Sans"/>
              </a:rPr>
              <a:t>Operator VoLTE availability does not give this modem a usable IMS stack.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E10CB1-104D-41A7-BA2D-5DB8CD75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625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38" b="1" i="0">
                <a:solidFill>
                  <a:srgbClr val="F4A62A"/>
                </a:solidFill>
                <a:latin typeface="Noto Sans"/>
                <a:ea typeface="Noto Sans"/>
                <a:cs typeface="Noto Sans"/>
              </a:defRPr>
            </a:pPr>
            <a:r>
              <a:rPr sz="1238" b="1" i="0">
                <a:solidFill>
                  <a:srgbClr val="F4A62A"/>
                </a:solidFill>
                <a:latin typeface="Noto Sans"/>
                <a:ea typeface="Noto Sans"/>
                <a:cs typeface="Noto Sans"/>
              </a:rPr>
              <a:t>Scope: non-emergency ordinary calls only, one active call and one audio client.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4DAB87-76E1-4A6C-965F-6AC9B735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1020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38" b="1" i="0">
                <a:solidFill>
                  <a:srgbClr val="F4A62A"/>
                </a:solidFill>
                <a:latin typeface="Noto Sans"/>
                <a:ea typeface="Noto Sans"/>
                <a:cs typeface="Noto Sans"/>
              </a:defRPr>
            </a:pPr>
            <a:r>
              <a:rPr sz="1238" b="1" i="0">
                <a:solidFill>
                  <a:srgbClr val="F4A62A"/>
                </a:solidFill>
                <a:latin typeface="Noto Sans"/>
                <a:ea typeface="Noto Sans"/>
                <a:cs typeface="Noto Sans"/>
              </a:rPr>
              <a:t>The guarded installer accepts the exact tested UFI003 profile. Look-alike hardware is refused.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DF0D77-CD01-4FC3-BF78-97E57CCD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rPr>
              <a:t>TUIT startup pitch, 24 Sep 2026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BF7E92-03E3-4256-9A5E-23A676CB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556257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F3392-46ED-4882-B163-8083481B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F3DA93-0544-4E89-8523-DCF0CA85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UFI PHONE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B2FB62-E549-4E70-BC87-5B46505F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Release packaging and platform status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C4FEB0-C28F-4675-A9BA-28BD82DD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Artifacts verified at 116de47, with the product and deck workspace current at 3cd8b56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85950"/>
          <a:ext xmlns:a="http://schemas.openxmlformats.org/drawingml/2006/main" cx="10972800" cy="4171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733800"/>
                <a:gridCol w="2000250"/>
                <a:gridCol w="3714750"/>
              </a:tblGrid>
              <a:tr h="476250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63" b="1">
                          <a:solidFill>
                            <a:srgbClr val="F8FBFC"/>
                          </a:solidFill>
                          <a:latin typeface="Noto Sans"/>
                          <a:ea typeface="Noto Sans"/>
                          <a:cs typeface="Noto Sans"/>
                        </a:rPr>
                        <a:t>Platform</a:t>
                      </a:r>
                    </a:p>
                  </a:txBody>
                  <a:tcPr marL="91440" marR="91440" marT="45720" marB="45720" anchor="ctr">
                    <a:solidFill>
                      <a:srgbClr val="071A2B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63" b="1">
                          <a:solidFill>
                            <a:srgbClr val="F8FBFC"/>
                          </a:solidFill>
                          <a:latin typeface="Noto Sans"/>
                          <a:ea typeface="Noto Sans"/>
                          <a:cs typeface="Noto Sans"/>
                        </a:rPr>
                        <a:t>What ships</a:t>
                      </a:r>
                    </a:p>
                  </a:txBody>
                  <a:tcPr marL="91440" marR="91440" marT="45720" marB="45720" anchor="ctr">
                    <a:solidFill>
                      <a:srgbClr val="071A2B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63" b="1">
                          <a:solidFill>
                            <a:srgbClr val="F8FBFC"/>
                          </a:solidFill>
                          <a:latin typeface="Noto Sans"/>
                          <a:ea typeface="Noto Sans"/>
                          <a:cs typeface="Noto Sans"/>
                        </a:rPr>
                        <a:t>Built evidence</a:t>
                      </a:r>
                    </a:p>
                  </a:txBody>
                  <a:tcPr marL="91440" marR="91440" marT="45720" marB="45720" anchor="ctr">
                    <a:solidFill>
                      <a:srgbClr val="071A2B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63" b="1">
                          <a:solidFill>
                            <a:srgbClr val="F8FBFC"/>
                          </a:solidFill>
                          <a:latin typeface="Noto Sans"/>
                          <a:ea typeface="Noto Sans"/>
                          <a:cs typeface="Noto Sans"/>
                        </a:rPr>
                        <a:t>Remaining gate</a:t>
                      </a:r>
                    </a:p>
                  </a:txBody>
                  <a:tcPr marL="91440" marR="91440" marT="45720" marB="45720" anchor="ctr">
                    <a:solidFill>
                      <a:srgbClr val="071A2B"/>
                    </a:solidFill>
                  </a:tcPr>
                </a:tc>
              </a:tr>
              <a:tr h="92392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4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Android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4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UFI Phone v0.5.0 with responsive Calls, Keypad and Messages UI. Landscape keypad fixed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4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API 36 AAB built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4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Publisher account, upload signing, Play forms and closed test if applicable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</a:tr>
              <a:tr h="92392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4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Linux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4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Desktop calls, SMS, local history, two-way audio and an application menu launcher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4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x86_64 executable built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4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Support QA on target Linux distributions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</a:tr>
              <a:tr h="92392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4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Windows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4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Portable desktop app with calls, SMS, history and PortAudio support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4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x86_64 executable built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4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Installer signing and support QA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</a:tr>
              <a:tr h="923925"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4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UFI003 gateway</a:t>
                      </a:r>
                    </a:p>
                  </a:txBody>
                  <a:tcPr marL="91440" marR="91440" marT="45720" marB="45720" anchor="ctr">
                    <a:solidFill>
                      <a:srgbClr val="E8F8FA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4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Device doctor, guarded installer, calls, SMS, audio and radio recovery</a:t>
                      </a:r>
                    </a:p>
                  </a:txBody>
                  <a:tcPr marL="91440" marR="91440" marT="45720" marB="45720" anchor="ctr">
                    <a:solidFill>
                      <a:srgbClr val="E8F8FA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4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Exact profile tested</a:t>
                      </a:r>
                    </a:p>
                  </a:txBody>
                  <a:tcPr marL="91440" marR="91440" marT="45720" marB="45720" anchor="ctr">
                    <a:solidFill>
                      <a:srgbClr val="E8F8FA"/>
                    </a:solidFill>
                  </a:tcPr>
                </a:tc>
                <a:tc>
                  <a:txBody>
                    <a:bodyPr wrap="square" lIns="85725" tIns="66675" rIns="85725" bIns="6667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4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Near-match hardware remains refused</a:t>
                      </a:r>
                    </a:p>
                  </a:txBody>
                  <a:tcPr marL="91440" marR="91440" marT="45720" marB="45720" anchor="ctr">
                    <a:solidFill>
                      <a:srgbClr val="E8F8F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6752E2-F2A2-4241-AC76-9769BC8E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TUIT startup pitch, 24 Sep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BEAC1C-D7DE-46A7-9A22-EB3699CE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964920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4EA595-C0FF-45AE-8701-5E11DE6B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09A686-CC35-4DD7-B249-8A8D7304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UFI PHONE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57B8A-3DD4-4FEC-BCE7-4E028C3F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First-year cost benchmark for ten devices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D38C7D-7F27-407D-A2A6-46F85567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UFI Phone uses one tested gateway and screens the organization already owns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23CF7C-6FC7-41A1-8CF3-D359223A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buNone/>
              <a:defRPr sz="6600" b="1" i="0">
                <a:solidFill>
                  <a:srgbClr val="119AAA"/>
                </a:solidFill>
                <a:latin typeface="Noto Sans"/>
                <a:ea typeface="Noto Sans"/>
                <a:cs typeface="Noto Sans"/>
              </a:defRPr>
            </a:pPr>
            <a:r>
              <a:rPr sz="6600" b="1" i="0">
                <a:solidFill>
                  <a:srgbClr val="119AAA"/>
                </a:solidFill>
                <a:latin typeface="Noto Sans"/>
                <a:ea typeface="Noto Sans"/>
                <a:cs typeface="Noto Sans"/>
              </a:rPr>
              <a:t>$10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C2FC8-8AB6-4BC3-8C08-C7D46279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43225"/>
            <a:ext cx="3095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founder purchase price for the tested modem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9B0FA9-5D2B-4AAF-93A4-B874E377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BD9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31B05-F80B-45AF-BF4D-4F4CF2E7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814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4B6BFB"/>
                </a:solidFill>
                <a:latin typeface="Noto Sans"/>
                <a:ea typeface="Noto Sans"/>
                <a:cs typeface="Noto Sans"/>
              </a:defRPr>
            </a:pPr>
            <a:r>
              <a:rPr sz="1275" b="1" i="0">
                <a:solidFill>
                  <a:srgbClr val="4B6BFB"/>
                </a:solidFill>
                <a:latin typeface="Noto Sans"/>
                <a:ea typeface="Noto Sans"/>
                <a:cs typeface="Noto Sans"/>
              </a:rPr>
              <a:t>Pilot pricing hypothesis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B206B2-1AE0-45EC-8D14-0D302688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00525"/>
            <a:ext cx="333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75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575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$49 starter kit + $3 per active device each month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75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1575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= $409 in year 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DAEDCC-D739-4378-9479-28588F45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5305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275" b="0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The pilot must measure installer time, support workload and profile-maintenance cost before launch pricing is set.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4476750" y="1857375"/>
          <a:ext xmlns:a="http://schemas.openxmlformats.org/drawingml/2006/main" cx="6953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60ad0a4afdf460e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A98377-E251-40E2-B329-FB13C42F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686425"/>
            <a:ext cx="695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975" b="0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*Hypothesis, not a launched offer. Carrier plan, taxes and existing screens are excluded. The products do not provide the same feature set.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1BB505-8CD0-4BDB-98C5-8E933000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TUIT startup pitch, 24 Sep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7120F8-45B5-4109-B718-3E667EDF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939956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052b0e64de4fe5"/>
          <a:srcRect xmlns:a="http://schemas.openxmlformats.org/drawingml/2006/main" l="18000" t="2000" r="2000" b="2000"/>
          <a:stretch xmlns:a="http://schemas.openxmlformats.org/drawingml/2006/main"/>
        </p:blipFill>
        <p:spPr>
          <a:xfrm xmlns:a="http://schemas.openxmlformats.org/drawingml/2006/main">
            <a:off x="7762875" y="0"/>
            <a:ext cx="442912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082AD-F573-4B27-9778-01B89DDB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0"/>
            <a:ext cx="1143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A2B"/>
              </a:gs>
              <a:gs pos="48000">
                <a:srgbClr val="071A2B">
                  <a:alpha val="84000"/>
                </a:srgbClr>
              </a:gs>
              <a:gs pos="100000">
                <a:srgbClr val="071A2B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64023-EE0F-4BC2-BEB9-DB4B785C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6338CF-0C49-416A-A44B-DD6C932B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9DB4BF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9DB4BF"/>
                </a:solidFill>
                <a:latin typeface="Noto Sans"/>
                <a:ea typeface="Noto Sans"/>
                <a:cs typeface="Noto Sans"/>
              </a:rPr>
              <a:t>UFI PHONE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D07753-36A0-4692-8699-155E4F77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92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292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Uzbekistan launch market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2B60A0-20F7-4083-A6F1-DBC6ABF3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9DB4BF"/>
                </a:solidFill>
                <a:latin typeface="Noto Sans"/>
                <a:ea typeface="Noto Sans"/>
                <a:cs typeface="Noto Sans"/>
              </a:defRPr>
            </a:pPr>
            <a:r>
              <a:rPr sz="1350" b="0" i="0">
                <a:solidFill>
                  <a:srgbClr val="9DB4BF"/>
                </a:solidFill>
                <a:latin typeface="Noto Sans"/>
                <a:ea typeface="Noto Sans"/>
                <a:cs typeface="Noto Sans"/>
              </a:rPr>
              <a:t>Start with one tested operator and one exact device profile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E0DFA2-DEA3-49EA-B76B-BF345C8F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350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4350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36.35M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F732E1-E2AD-46B1-A634-3DE64920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764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38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mobile subscriptions in Uzbekistan as of 1 April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A89F4E-F755-44F2-B3A6-3F2F01F1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946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D09CBF-C67D-486A-905C-37A18CE8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INITIAL USERS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ED050D-9E0A-4637-A89E-7D5AB8F9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3C9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514461-C06E-4586-9A5E-0E6AED27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88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388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Retail and service desks using one public number on existing Wi-Fi screens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3BBD2C-CE0E-4DD9-BF13-68C8ECC0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3C9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8B7ACA-7E34-4BBB-BD61-A1278B2E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00475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88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388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Campus offices and labs that need a departmental SIM on tablets and PCs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00D284-499E-4147-B92D-C2609D9B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85725" cy="857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3C9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88ABA0-A6EE-409B-974A-045209C7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609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88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388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Field sites where a fixed PBX or a full UCaaS suite is disproportionate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DAF861-DA41-4C44-82D3-E7585B3F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9465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C48BCE-554A-4229-BFD0-2F46CC6F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4A62A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F4A62A"/>
                </a:solidFill>
                <a:latin typeface="Noto Sans"/>
                <a:ea typeface="Noto Sans"/>
                <a:cs typeface="Noto Sans"/>
              </a:rPr>
              <a:t>GO TO MARKET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FFB3F0-689D-45BE-A973-7C8A214F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638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Start with paid Ucell pilots on the tested UFI003.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Add operators only after SIM and tariff acceptance.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Channel hypothesis: modem resellers and local IT installers.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C42CDD-1C8F-41A6-907B-EEC55AAC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rPr>
              <a:t>TUIT startup pitch, 24 Sep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F77A6A-08AE-4091-9109-D924B8C2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04135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8D330B-7B91-4C25-824B-B0D730BB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95AF04-85F8-41AD-AA2A-9394D9BB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UFI PHONE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C86256-2BA2-4C49-A648-DC18EF90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defRPr>
            </a:pPr>
            <a:r>
              <a:rPr sz="3225" b="1" i="0">
                <a:solidFill>
                  <a:srgbClr val="102633"/>
                </a:solidFill>
                <a:latin typeface="Noto Sans"/>
                <a:ea typeface="Noto Sans"/>
                <a:cs typeface="Noto Sans"/>
              </a:rPr>
              <a:t>Uzbekistan operator compatibility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87500D-6FD9-4123-A9B0-434BB084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637784"/>
                </a:solidFill>
                <a:latin typeface="Noto Sans"/>
                <a:ea typeface="Noto Sans"/>
                <a:cs typeface="Noto Sans"/>
              </a:rPr>
              <a:t>VoLTE on the operator network is separate from IMS support inside this UFI003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28800"/>
          <a:ext xmlns:a="http://schemas.openxmlformats.org/drawingml/2006/main" cx="10972800" cy="4343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2857500"/>
                <a:gridCol w="4305300"/>
                <a:gridCol w="2476500"/>
              </a:tblGrid>
              <a:tr h="45720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F8FBFC"/>
                          </a:solidFill>
                          <a:latin typeface="Noto Sans"/>
                          <a:ea typeface="Noto Sans"/>
                          <a:cs typeface="Noto Sans"/>
                        </a:rPr>
                        <a:t>Operator</a:t>
                      </a:r>
                    </a:p>
                  </a:txBody>
                  <a:tcPr marL="91440" marR="91440" marT="45720" marB="45720" anchor="ctr">
                    <a:solidFill>
                      <a:srgbClr val="071A2B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F8FBFC"/>
                          </a:solidFill>
                          <a:latin typeface="Noto Sans"/>
                          <a:ea typeface="Noto Sans"/>
                          <a:cs typeface="Noto Sans"/>
                        </a:rPr>
                        <a:t>Network evidence</a:t>
                      </a:r>
                    </a:p>
                  </a:txBody>
                  <a:tcPr marL="91440" marR="91440" marT="45720" marB="45720" anchor="ctr">
                    <a:solidFill>
                      <a:srgbClr val="071A2B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F8FBFC"/>
                          </a:solidFill>
                          <a:latin typeface="Noto Sans"/>
                          <a:ea typeface="Noto Sans"/>
                          <a:cs typeface="Noto Sans"/>
                        </a:rPr>
                        <a:t>UFI003 evidence</a:t>
                      </a:r>
                    </a:p>
                  </a:txBody>
                  <a:tcPr marL="91440" marR="91440" marT="45720" marB="45720" anchor="ctr">
                    <a:solidFill>
                      <a:srgbClr val="071A2B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125" b="1">
                          <a:solidFill>
                            <a:srgbClr val="F8FBFC"/>
                          </a:solidFill>
                          <a:latin typeface="Noto Sans"/>
                          <a:ea typeface="Noto Sans"/>
                          <a:cs typeface="Noto Sans"/>
                        </a:rPr>
                        <a:t>Commercial claim</a:t>
                      </a:r>
                    </a:p>
                  </a:txBody>
                  <a:tcPr marL="91440" marR="91440" marT="45720" marB="45720" anchor="ctr">
                    <a:solidFill>
                      <a:srgbClr val="071A2B"/>
                    </a:solidFill>
                  </a:tcPr>
                </a:tc>
              </a:tr>
              <a:tr h="64770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Ucell</a:t>
                      </a:r>
                    </a:p>
                  </a:txBody>
                  <a:tcPr marL="91440" marR="91440" marT="45720" marB="45720" anchor="ctr">
                    <a:solidFill>
                      <a:srgbClr val="E8F6E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Official VoLTE offer</a:t>
                      </a:r>
                    </a:p>
                  </a:txBody>
                  <a:tcPr marL="91440" marR="91440" marT="45720" marB="45720" anchor="ctr">
                    <a:solidFill>
                      <a:srgbClr val="E8F6E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Tested: LTE data, SMS, calls and two-way audio. Voice falls back to WCDMA/HSPA</a:t>
                      </a:r>
                    </a:p>
                  </a:txBody>
                  <a:tcPr marL="91440" marR="91440" marT="45720" marB="45720" anchor="ctr">
                    <a:solidFill>
                      <a:srgbClr val="E8F6EF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Reference operator</a:t>
                      </a:r>
                    </a:p>
                  </a:txBody>
                  <a:tcPr marL="91440" marR="91440" marT="45720" marB="45720" anchor="ctr">
                    <a:solidFill>
                      <a:srgbClr val="E8F6EF"/>
                    </a:solidFill>
                  </a:tcPr>
                </a:tc>
              </a:tr>
              <a:tr h="64770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Mobiuz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VoLTE page documents 2G/3G fallback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No project SIM test yet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Validate SIM and tariff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</a:tr>
              <a:tr h="64770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Uzmobile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VoLTE page documents 2G/3G handover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No project SIM test yet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Validate SIM, APN and LTE return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</a:tr>
              <a:tr h="64770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Beeline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VoLTE for compatible USIM and device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Modem IMS unusable. Circuit-switched path untested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Validate intended tariff</a:t>
                      </a:r>
                    </a:p>
                  </a:txBody>
                  <a:tcPr marL="91440" marR="91440" marT="45720" marB="45720" anchor="ctr">
                    <a:solidFill>
                      <a:srgbClr val="F4F7F8"/>
                    </a:solidFill>
                  </a:tcPr>
                </a:tc>
              </a:tr>
              <a:tr h="64770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Humans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Mobile service uses the Uzmobile network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MVNO provisioning remains untested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Test separately</a:t>
                      </a:r>
                    </a:p>
                  </a:txBody>
                  <a:tcPr marL="91440" marR="91440" marT="45720" marB="45720" anchor="ctr">
                    <a:solidFill>
                      <a:srgbClr val="F8FBFC"/>
                    </a:solidFill>
                  </a:tcPr>
                </a:tc>
              </a:tr>
              <a:tr h="647700"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Perfectum</a:t>
                      </a:r>
                    </a:p>
                  </a:txBody>
                  <a:tcPr marL="91440" marR="91440" marT="45720" marB="45720" anchor="ctr">
                    <a:solidFill>
                      <a:srgbClr val="FDEEEE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CDMA and 5G SA/VoNR device paths</a:t>
                      </a:r>
                    </a:p>
                  </a:txBody>
                  <a:tcPr marL="91440" marR="91440" marT="45720" marB="45720" anchor="ctr">
                    <a:solidFill>
                      <a:srgbClr val="FDEEEE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0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Incompatible with this exact UFI003</a:t>
                      </a:r>
                    </a:p>
                  </a:txBody>
                  <a:tcPr marL="91440" marR="91440" marT="45720" marB="45720" anchor="ctr">
                    <a:solidFill>
                      <a:srgbClr val="FDEEEE"/>
                    </a:solidFill>
                  </a:tcPr>
                </a:tc>
                <a:tc>
                  <a:txBody>
                    <a:bodyPr wrap="square" lIns="76200" tIns="47625" rIns="76200" bIns="47625">
                      <a:norm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sz="1080" b="1">
                          <a:solidFill>
                            <a:srgbClr val="102633"/>
                          </a:solidFill>
                          <a:latin typeface="Noto Sans"/>
                          <a:ea typeface="Noto Sans"/>
                          <a:cs typeface="Noto Sans"/>
                        </a:rPr>
                        <a:t>Unsupported on this hardware</a:t>
                      </a:r>
                    </a:p>
                  </a:txBody>
                  <a:tcPr marL="91440" marR="91440" marT="45720" marB="45720" anchor="ctr">
                    <a:solidFill>
                      <a:srgbClr val="FDEEE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C12027-CE85-43F5-8013-36A6DB58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TUIT startup pitch, 24 Sep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7A4928-EBC0-49FF-A865-4FDF86FA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778C96"/>
                </a:solidFill>
                <a:latin typeface="Noto Sans"/>
                <a:ea typeface="Noto Sans"/>
                <a:cs typeface="Noto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827881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704468-D11D-411F-AADA-9444FFC3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925B1B-E4B1-47E4-AFF3-2B834B53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9DB4BF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9DB4BF"/>
                </a:solidFill>
                <a:latin typeface="Noto Sans"/>
                <a:ea typeface="Noto Sans"/>
                <a:cs typeface="Noto Sans"/>
              </a:rPr>
              <a:t>UFI PHONE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E30493-CA6E-4090-9E21-12C21448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225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3225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90-day commercialization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1A386F-C253-46A1-B70F-3E260CD9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9DB4BF"/>
                </a:solidFill>
                <a:latin typeface="Noto Sans"/>
                <a:ea typeface="Noto Sans"/>
                <a:cs typeface="Noto Sans"/>
              </a:defRPr>
            </a:pPr>
            <a:r>
              <a:rPr sz="1425" b="0" i="0">
                <a:solidFill>
                  <a:srgbClr val="9DB4BF"/>
                </a:solidFill>
                <a:latin typeface="Noto Sans"/>
                <a:ea typeface="Noto Sans"/>
                <a:cs typeface="Noto Sans"/>
              </a:rPr>
              <a:t>Release packaging is ready. Operator acceptance and publisher prerequisites now determine the 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49873A-82B1-4B18-AB9D-332FCF3B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DAYS 0–30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3CAC37-EDEF-4D3A-A1B0-EF40A190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Release and measure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F645D0-6385-43AE-83CD-D4EE8355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46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3C9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34FAEB-7079-45B0-8861-2730BE28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3143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Play account, support email and upload key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Play App Signing and store declarations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12 testers for 14 days if the new-account rule applies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Signed release tag with synthetic assets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FB2FE3-E1E8-4FC9-AFD8-08A1825C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24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4B6BFB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4B6BFB"/>
                </a:solidFill>
                <a:latin typeface="Noto Sans"/>
                <a:ea typeface="Noto Sans"/>
                <a:cs typeface="Noto Sans"/>
              </a:rPr>
              <a:t>DAYS 31–60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C34BDB-9992-4E5A-BB28-406AAA67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669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Operator acceptance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D97394-D86F-4B72-BB41-10EBFABD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146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B6BF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6C2327-C149-4E91-A51B-39D3E609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05150"/>
            <a:ext cx="3143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Mobiuz, Uzmobile, Beeline and Humans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SIM and tariff matrix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Ten cold boots per operator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Calls, audio, SMS and return to LTE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B64128-AAA1-4F7A-8E8C-5AC4BFAF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24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4A62A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F4A62A"/>
                </a:solidFill>
                <a:latin typeface="Noto Sans"/>
                <a:ea typeface="Noto Sans"/>
                <a:cs typeface="Noto Sans"/>
              </a:rPr>
              <a:t>DAYS 61–90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F0129A-E717-424D-8977-97BEF764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669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650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Pilot and expand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BFD50A-AD59-4F6F-B240-F367B965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4A62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F333BD-4753-45B8-AFCE-C94CD609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05150"/>
            <a:ext cx="3143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Three paid Ucell sites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Measure setup, missed events and support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Improve Phone UX and calling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Profile a second modem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defRPr>
            </a:pPr>
            <a:r>
              <a:rPr sz="1200" b="0" i="0">
                <a:solidFill>
                  <a:srgbClr val="C7D9E0"/>
                </a:solidFill>
                <a:latin typeface="Noto Sans"/>
                <a:ea typeface="Noto Sans"/>
                <a:cs typeface="Noto Sans"/>
              </a:rPr>
              <a:t>Start the macOS protocol package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C12880-DB5C-4BC3-9E16-E835B7CD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9728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311F1D"/>
          </a:solidFill>
          <a:ln xmlns:a="http://schemas.openxmlformats.org/drawingml/2006/main" w="12383">
            <a:solidFill>
              <a:srgbClr val="7B4D4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C868A3-1822-4877-AC52-1A70CD6F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7202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D5CE"/>
                </a:solidFill>
                <a:latin typeface="Noto Sans"/>
                <a:ea typeface="Noto Sans"/>
                <a:cs typeface="Noto Sans"/>
              </a:defRPr>
            </a:pPr>
            <a:r>
              <a:rPr sz="1350" b="1" i="0">
                <a:solidFill>
                  <a:srgbClr val="FFD5CE"/>
                </a:solidFill>
                <a:latin typeface="Noto Sans"/>
                <a:ea typeface="Noto Sans"/>
                <a:cs typeface="Noto Sans"/>
              </a:rPr>
              <a:t>Commercial risks: 2G/3G fallback availability, operator and tariff approval, privileged gateway signing, and Play review.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92B4A7-F393-463E-BE99-B049D876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23C9D7"/>
                </a:solidFill>
                <a:latin typeface="Noto Sans"/>
                <a:ea typeface="Noto Sans"/>
                <a:cs typeface="Noto Sans"/>
              </a:rPr>
              <a:t>APPLE ROADMAP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57DA30-D8EE-4E8E-9CCA-69346EC6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600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15" b="0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215" b="0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macOS first. iPadOS follows for foreground calls and SMS. Reliable background ringing needs compliant push and adds a cloud dependency.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D5D251-8333-4BE7-B1EC-AF265CEF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5435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F4A62A"/>
                </a:solidFill>
                <a:latin typeface="Noto Sans"/>
                <a:ea typeface="Noto Sans"/>
                <a:cs typeface="Noto Sans"/>
              </a:defRPr>
            </a:pPr>
            <a:r>
              <a:rPr sz="1125" b="1" i="0">
                <a:solidFill>
                  <a:srgbClr val="F4A62A"/>
                </a:solidFill>
                <a:latin typeface="Noto Sans"/>
                <a:ea typeface="Noto Sans"/>
                <a:cs typeface="Noto Sans"/>
              </a:rPr>
              <a:t>TUIT ASK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F6C3BF-8D61-4573-A370-BA509F66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50545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38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238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Telecom mentor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38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238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Four operator SIMs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38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238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Three pilot sites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38" b="1" i="0">
                <a:solidFill>
                  <a:srgbClr val="F8FBFC"/>
                </a:solidFill>
                <a:latin typeface="Noto Sans"/>
                <a:ea typeface="Noto Sans"/>
                <a:cs typeface="Noto Sans"/>
              </a:defRPr>
            </a:pPr>
            <a:r>
              <a:rPr sz="1238" b="1" i="0">
                <a:solidFill>
                  <a:srgbClr val="F8FBFC"/>
                </a:solidFill>
                <a:latin typeface="Noto Sans"/>
                <a:ea typeface="Noto Sans"/>
                <a:cs typeface="Noto Sans"/>
              </a:rPr>
              <a:t>Play tester cohort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0EEBBE-2AA9-4724-9C83-6D6285CF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rPr>
              <a:t>TUIT startup pitch, 24 Sep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5C7590-2550-4DF2-B377-383B0DE4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defRPr>
            </a:pPr>
            <a:r>
              <a:rPr sz="900" b="0" i="0">
                <a:solidFill>
                  <a:srgbClr val="8CA2AD"/>
                </a:solidFill>
                <a:latin typeface="Noto Sans"/>
                <a:ea typeface="Noto Sans"/>
                <a:cs typeface="Noto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60648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2026-09-25T08:47:53.2350000Z</dcterms:created>
  <dcterms:modified xsi:type="dcterms:W3CDTF">2026-09-25T08:47:53.2350000Z</dcterms:modified>
</coreProperties>
</file>