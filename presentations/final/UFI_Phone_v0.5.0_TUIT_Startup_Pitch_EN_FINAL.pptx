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44dc275f384604" /><Relationship Type="http://schemas.openxmlformats.org/officeDocument/2006/relationships/extended-properties" Target="/docProps/app.xml" Id="R1da9987b4fac46d0" /><Relationship Type="http://schemas.openxmlformats.org/officeDocument/2006/relationships/officeDocument" Target="/ppt/presentation.xml" Id="Rcb4f068e2c1640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261b6e7b784880"/>
  </p:sldMasterIdLst>
  <p:notesMasterIdLst>
    <p:notesMasterId xmlns:r="http://schemas.openxmlformats.org/officeDocument/2006/relationships" r:id="R2812011972714415"/>
  </p:notesMasterIdLst>
  <p:sldIdLst>
    <p:sldId xmlns:r="http://schemas.openxmlformats.org/officeDocument/2006/relationships" id="256" r:id="R53502d04e3094615"/>
    <p:sldId xmlns:r="http://schemas.openxmlformats.org/officeDocument/2006/relationships" id="257" r:id="R2a67bed07aac4a08"/>
    <p:sldId xmlns:r="http://schemas.openxmlformats.org/officeDocument/2006/relationships" id="258" r:id="R6e8a3093b0944312"/>
    <p:sldId xmlns:r="http://schemas.openxmlformats.org/officeDocument/2006/relationships" id="259" r:id="R7328b2b90ff74490"/>
    <p:sldId xmlns:r="http://schemas.openxmlformats.org/officeDocument/2006/relationships" id="260" r:id="R584d919cd4ce4f36"/>
    <p:sldId xmlns:r="http://schemas.openxmlformats.org/officeDocument/2006/relationships" id="261" r:id="Rb7f24b518dd94d87"/>
    <p:sldId xmlns:r="http://schemas.openxmlformats.org/officeDocument/2006/relationships" id="262" r:id="R5faf045984334e06"/>
    <p:sldId xmlns:r="http://schemas.openxmlformats.org/officeDocument/2006/relationships" id="263" r:id="Rd41f60335c564b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371aadf58451b" /><Relationship Type="http://schemas.openxmlformats.org/officeDocument/2006/relationships/slideMaster" Target="/ppt/slideMasters/slideMaster1.xml" Id="R24261b6e7b784880" /><Relationship Type="http://schemas.openxmlformats.org/officeDocument/2006/relationships/notesMaster" Target="/ppt/notesMasters/notesMaster1.xml" Id="R2812011972714415" /><Relationship Type="http://schemas.openxmlformats.org/officeDocument/2006/relationships/presProps" Target="/ppt/presProps.xml" Id="R32016ba9925f49ee" /><Relationship Type="http://schemas.openxmlformats.org/officeDocument/2006/relationships/tableStyles" Target="/ppt/tableStyles.xml" Id="R8c6e3c7151134fbf" /><Relationship Type="http://schemas.openxmlformats.org/officeDocument/2006/relationships/slide" Target="/ppt/slides/slide1.xml" Id="R53502d04e3094615" /><Relationship Type="http://schemas.openxmlformats.org/officeDocument/2006/relationships/slide" Target="/ppt/slides/slide2.xml" Id="R2a67bed07aac4a08" /><Relationship Type="http://schemas.openxmlformats.org/officeDocument/2006/relationships/slide" Target="/ppt/slides/slide3.xml" Id="R6e8a3093b0944312" /><Relationship Type="http://schemas.openxmlformats.org/officeDocument/2006/relationships/slide" Target="/ppt/slides/slide4.xml" Id="R7328b2b90ff74490" /><Relationship Type="http://schemas.openxmlformats.org/officeDocument/2006/relationships/slide" Target="/ppt/slides/slide5.xml" Id="R584d919cd4ce4f36" /><Relationship Type="http://schemas.openxmlformats.org/officeDocument/2006/relationships/slide" Target="/ppt/slides/slide6.xml" Id="Rb7f24b518dd94d87" /><Relationship Type="http://schemas.openxmlformats.org/officeDocument/2006/relationships/slide" Target="/ppt/slides/slide7.xml" Id="R5faf045984334e06" /><Relationship Type="http://schemas.openxmlformats.org/officeDocument/2006/relationships/slide" Target="/ppt/slides/slide8.xml" Id="Rd41f60335c564b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cb5f5350af40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736da4b5b1449f" /><Relationship Type="http://schemas.openxmlformats.org/officeDocument/2006/relationships/notesMaster" Target="/ppt/notesMasters/notesMaster1.xml" Id="R283882aac05b47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a9ea705f564e9d" /><Relationship Type="http://schemas.openxmlformats.org/officeDocument/2006/relationships/notesMaster" Target="/ppt/notesMasters/notesMaster1.xml" Id="R5973910a28174d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5a1ef31cc64919" /><Relationship Type="http://schemas.openxmlformats.org/officeDocument/2006/relationships/notesMaster" Target="/ppt/notesMasters/notesMaster1.xml" Id="R888c3630fa2c44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bbe9f19a684bae" /><Relationship Type="http://schemas.openxmlformats.org/officeDocument/2006/relationships/notesMaster" Target="/ppt/notesMasters/notesMaster1.xml" Id="R387a1135c8574b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c0aba497ef42a5" /><Relationship Type="http://schemas.openxmlformats.org/officeDocument/2006/relationships/notesMaster" Target="/ppt/notesMasters/notesMaster1.xml" Id="R331f9e39f6794e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9e766598d847e5" /><Relationship Type="http://schemas.openxmlformats.org/officeDocument/2006/relationships/notesMaster" Target="/ppt/notesMasters/notesMaster1.xml" Id="R66cf5cb9e54f4e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a8c77338504044" /><Relationship Type="http://schemas.openxmlformats.org/officeDocument/2006/relationships/notesMaster" Target="/ppt/notesMasters/notesMaster1.xml" Id="R7773ba0c99c641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3074e0fee446c5" /><Relationship Type="http://schemas.openxmlformats.org/officeDocument/2006/relationships/notesMaster" Target="/ppt/notesMasters/notesMaster1.xml" Id="Rc0759a43abf84a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evidence: UFI Phone v0.5.0 at commit 116de4779f0a3eed155390c43de84b1bb24f3df5. The repository documents direct local SMS, incoming and outgoing ordinary carrier calls, two-way audio, call history, incoming-call UI, radio-mode recovery, Android, Linux and Windows clients.</a:t>
            </a:r>
          </a:p>
          <a:p xmlns:a="http://schemas.openxmlformats.org/drawingml/2006/main">
            <a:r>
              <a:t>https://github.com/Ruskuv1708/ufi-sms-telegram-forwarder/commit/116de4779f0a3eed155390c43de84b1bb24f3df5</a:t>
            </a:r>
          </a:p>
          <a:p xmlns:a="http://schemas.openxmlformats.org/drawingml/2006/main">
            <a:r>
              <a:t>https://github.com/Ruskuv1708/ufi-sms-telegram-forwarder/blob/116de4779f0a3eed155390c43de84b1bb24f3df5/README.md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 illustration contains no customer data and does not depict the tested physical device.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evidence: direct local SMS receive/read/send, incoming and outgoing ordinary carrier calls, two-way audio, incoming-call UI, call history, network-mode health and recovery. Telegram remains an optional compatibility path and the installer leaves it disabled.</a:t>
            </a:r>
          </a:p>
          <a:p xmlns:a="http://schemas.openxmlformats.org/drawingml/2006/main">
            <a:r>
              <a:t>https://github.com/Ruskuv1708/ufi-sms-telegram-forwarder/blob/116de4779f0a3eed155390c43de84b1bb24f3df5/README.md</a:t>
            </a:r>
          </a:p>
          <a:p xmlns:a="http://schemas.openxmlformats.org/drawingml/2006/main">
            <a:r>
              <a:t>https://github.com/Ruskuv1708/ufi-sms-telegram-forwarder/blob/116de4779f0a3eed155390c43de84b1bb24f3df5/docs/product-vision.md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real phone numbers, SMS content, tokens or private screenshots are included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boundary: the tested UFI003 firmware has no usable IMS stack. Ucell calls work by moving from LTE data to WCDMA/HSPA for circuit-switched voice, then returning to LTE. Operator VoLTE availability and modem IMS capability are separate facts.</a:t>
            </a:r>
          </a:p>
          <a:p xmlns:a="http://schemas.openxmlformats.org/drawingml/2006/main">
            <a:r>
              <a:t>https://github.com/Ruskuv1708/ufi-sms-telegram-forwarder/blob/116de4779f0a3eed155390c43de84b1bb24f3df5/README.md</a:t>
            </a:r>
          </a:p>
          <a:p xmlns:a="http://schemas.openxmlformats.org/drawingml/2006/main">
            <a:r>
              <a:t>https://github.com/Ruskuv1708/ufi-sms-telegram-forwarder/blob/116de4779f0a3eed155390c43de84b1bb24f3df5/hardware-profiles.json</a:t>
            </a:r>
          </a:p>
          <a:p xmlns:a="http://schemas.openxmlformats.org/drawingml/2006/main">
            <a:r>
              <a:t>https://github.com/Ruskuv1708/ufi-sms-telegram-forwarder/blob/116de4779f0a3eed155390c43de84b1bb24f3df5/docs/uzbekistan-market-and-operator-compatibility.md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gateway is restricted to the modem LAN and requires a pairing token. The current scope excludes emergency numbers, short codes, service codes, supplementary services and native IMS/VoLTE.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evidence: GitHub Actions run #3 for commit 116de47 finished successfully and produced three artifacts: Android AAB (660 KB), Linux x86_64 executable (23 MB) and Windows x86_64 executable (11.9 MB).</a:t>
            </a:r>
          </a:p>
          <a:p xmlns:a="http://schemas.openxmlformats.org/drawingml/2006/main">
            <a:r>
              <a:t>https://github.com/Ruskuv1708/ufi-sms-telegram-forwarder/actions/runs/35964803887</a:t>
            </a:r>
          </a:p>
          <a:p xmlns:a="http://schemas.openxmlformats.org/drawingml/2006/main">
            <a:r>
              <a:t>https://github.com/Ruskuv1708/ufi-sms-telegram-forwarder/commit/116de4779f0a3eed155390c43de84b1bb24f3df5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Android targets API 36. The repository contains the responsive Google-style Calls, Keypad and Messages interface, including the corrected landscape keypad. Only the ordinary Android companion belongs in Google Play; the privileged modem gateway remains behind the exact-profile installer.</a:t>
            </a:r>
          </a:p>
          <a:p xmlns:a="http://schemas.openxmlformats.org/drawingml/2006/main">
            <a:r>
              <a:t>https://github.com/Ruskuv1708/ufi-sms-telegram-forwarder/blob/116de4779f0a3eed155390c43de84b1bb24f3df5/distribution/google-play/release-checklist.md</a:t>
            </a:r>
          </a:p>
          <a:p xmlns:a="http://schemas.openxmlformats.org/drawingml/2006/main">
            <a:r>
              <a:t>https://github.com/Ruskuv1708/ufi-sms-telegram-forwarder/blob/116de4779f0a3eed155390c43de84b1bb24f3df5/docs/adding-hardware-profiles.md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assumptions:</a:t>
            </a:r>
          </a:p>
          <a:p xmlns:a="http://schemas.openxmlformats.org/drawingml/2006/main">
            <a:r>
              <a:t>- Apple currently shows a $150 difference between Wi-Fi and Wi-Fi + Cellular at the same base iPad storage tier; 10 × $150 = $1,500. https://www.apple.com/shop/buy-ipad/ipad</a:t>
            </a:r>
          </a:p>
          <a:p xmlns:a="http://schemas.openxmlformats.org/drawingml/2006/main">
            <a:r>
              <a:t>- RingCentral Essentials starts at $19.99 per user each month with annual billing; 10 × $19.99 × 12 = $2,398.80, rounded to $2,399. https://www.ringcentral.com/shared/content/plans-and-pricing.html</a:t>
            </a:r>
          </a:p>
          <a:p xmlns:a="http://schemas.openxmlformats.org/drawingml/2006/main">
            <a:r>
              <a:t>- UFI Phone pilot pricing remains a hypothesis: $49 starter kit + $3 × 10 active devices × 12 months = $409 in year one. The $10 modem price is the founder's purchase price and is not a supplier quote or validated scalable BOM.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compares budget anchors rather than equivalent products. RingCentral includes a broad UCaaS feature set; cellular iPad pricing buys data connectivity rather than this local carrier-call gateway.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evidence: Uzbekistan had 36.3483 million mobile subscriptions, or 96.6 per 100 residents, as of 1 April 2025. The national competition authority identifies six operators. These figures show market scale and do not forecast UFI Phone demand.</a:t>
            </a:r>
          </a:p>
          <a:p xmlns:a="http://schemas.openxmlformats.org/drawingml/2006/main">
            <a:r>
              <a:t>https://stat.uz/files/538/2025-Choraklik-natijalar-january--march-ang/3940/Report-for-January-March-2025.pdf</a:t>
            </a:r>
          </a:p>
          <a:p xmlns:a="http://schemas.openxmlformats.org/drawingml/2006/main">
            <a:r>
              <a:t>https://raqobat.gov.uz/ru/rezultaty-analiza-rynka-uslug-mobilnoj-svyazi/</a:t>
            </a:r>
          </a:p>
          <a:p xmlns:a="http://schemas.openxmlformats.org/drawingml/2006/main">
            <a:r>
              <a:t>https://github.com/Ruskuv1708/ufi-sms-telegram-forwarder/blob/116de4779f0a3eed155390c43de84b1bb24f3df5/docs/uzbekistan-market-and-operator-compatibility.md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Customer segments, channel design and paid-pilot sequencing remain hypotheses for validation. The image is generated and illustrative; it contains no real customer, call or message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evidence:</a:t>
            </a:r>
          </a:p>
          <a:p xmlns:a="http://schemas.openxmlformats.org/drawingml/2006/main">
            <a:r>
              <a:t>- Ucell VoLTE/ViLTE announcement: https://ucell.uz/en/company_news/ucell_volte_vilte-_texnologiyalarining_yangi_ufqlari</a:t>
            </a:r>
          </a:p>
          <a:p xmlns:a="http://schemas.openxmlformats.org/drawingml/2006/main">
            <a:r>
              <a:t>- Mobiuz VoLTE and 2G/3G fallback: https://corp.mobi.uz/en/uslugi/volte/?VOICE=Y</a:t>
            </a:r>
          </a:p>
          <a:p xmlns:a="http://schemas.openxmlformats.org/drawingml/2006/main">
            <a:r>
              <a:t>- Uzmobile VoLTE and 2G/3G handover: https://uztelecom.uz/en/for-individuals/mobile-communication/gsm/services/additional-services/volte/</a:t>
            </a:r>
          </a:p>
          <a:p xmlns:a="http://schemas.openxmlformats.org/drawingml/2006/main">
            <a:r>
              <a:t>- Beeline VoLTE requirements: https://b2b.beeline.uz/en/products/services/volte</a:t>
            </a:r>
          </a:p>
          <a:p xmlns:a="http://schemas.openxmlformats.org/drawingml/2006/main">
            <a:r>
              <a:t>- Humans network information: https://qr.humans.uz/ru/telecom</a:t>
            </a:r>
          </a:p>
          <a:p xmlns:a="http://schemas.openxmlformats.org/drawingml/2006/main">
            <a:r>
              <a:t>- Perfectum CDMA and supported-device ecosystem: https://perfectum.uz/uz/cdma and https://perfectum.uz/uz/pages/sotni-ustroistv</a:t>
            </a:r>
          </a:p>
          <a:p xmlns:a="http://schemas.openxmlformats.org/drawingml/2006/main">
            <a:r>
              <a:t>- Project compatibility report and required SIM acceptance matrix: https://github.com/Ruskuv1708/ufi-sms-telegram-forwarder/blob/116de4779f0a3eed155390c43de84b1bb24f3df5/docs/uzbekistan-market-and-operator-compatibility.md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Ucell has passed the project's LTE data, direct SMS, incoming/outgoing call and two-way-audio tests on this exact UFI003. Mobiuz, Uzmobile, Beeline and Humans require actual SIM and tariff validation. Perfectum paths are unsupported on this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Publisher and platform sources:</a:t>
            </a:r>
          </a:p>
          <a:p xmlns:a="http://schemas.openxmlformats.org/drawingml/2006/main">
            <a:r>
              <a:t>- Google Play checklist and current project prerequisites: https://github.com/Ruskuv1708/ufi-sms-telegram-forwarder/blob/116de4779f0a3eed155390c43de84b1bb24f3df5/distribution/google-play/release-checklist.md</a:t>
            </a:r>
          </a:p>
          <a:p xmlns:a="http://schemas.openxmlformats.org/drawingml/2006/main">
            <a:r>
              <a:t>- Target API requirements: https://support.google.com/googleplay/android-developer/answer/11926878?hl=en</a:t>
            </a:r>
          </a:p>
          <a:p xmlns:a="http://schemas.openxmlformats.org/drawingml/2006/main">
            <a:r>
              <a:t>- Android App Bundles: https://developer.android.com/guide/app-bundle</a:t>
            </a:r>
          </a:p>
          <a:p xmlns:a="http://schemas.openxmlformats.org/drawingml/2006/main">
            <a:r>
              <a:t>- Play App Signing: https://developer.android.com/studio/publish/app-signing</a:t>
            </a:r>
          </a:p>
          <a:p xmlns:a="http://schemas.openxmlformats.org/drawingml/2006/main">
            <a:r>
              <a:t>- Production access for new personal accounts: https://support.google.com/googleplay/android-developer/answer/14151465?hl=en</a:t>
            </a:r>
          </a:p>
          <a:p xmlns:a="http://schemas.openxmlformats.org/drawingml/2006/main">
            <a:r>
              <a:t>- Apple platform roadmap: https://github.com/Ruskuv1708/ufi-sms-telegram-forwarder/blob/116de4779f0a3eed155390c43de84b1bb24f3df5/docs/apple-platform-roadmap.md</a:t>
            </a:r>
          </a:p>
          <a:p xmlns:a="http://schemas.openxmlformats.org/drawingml/2006/main">
            <a:r>
              <a:t>- Apple local-network privacy: https://developer.apple.com/documentation/technotes/tn3179-understanding-local-network-privacy</a:t>
            </a:r>
          </a:p>
          <a:p xmlns:a="http://schemas.openxmlformats.org/drawingml/2006/main">
            <a:r>
              <a:t>- CallKit: https://developer.apple.com/documentation/CallKit</a:t>
            </a:r>
          </a:p>
          <a:p xmlns:a="http://schemas.openxmlformats.org/drawingml/2006/main">
            <a:r>
              <a:t>- macOS notarization: https://developer.apple.com/documentation/Security/notarizing-macos-software-before-distribution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is the recommended first Apple platform. An iPadOS foreground companion can use the local modem connection, but reliable background incoming calls require a compliant push architecture. That choice adds a server and changes the current local-only privacy model. Milestones and pilot counts are proposed targets, not completed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8a77b2dbb45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8746744e534fb1" /><Relationship Type="http://schemas.openxmlformats.org/officeDocument/2006/relationships/slideLayout" Target="/ppt/slideLayouts/slideLayout1.xml" Id="R18fadb165d484a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fadb165d484a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4c0bcdafb44e1" /><Relationship Type="http://schemas.openxmlformats.org/officeDocument/2006/relationships/image" Target="/ppt/media/image.png" Id="R5d71baf2d48b4bc2" /><Relationship Type="http://schemas.openxmlformats.org/officeDocument/2006/relationships/image" Target="/ppt/media/image2.png" Id="R1e91b5aa9cb549f5" /><Relationship Type="http://schemas.openxmlformats.org/officeDocument/2006/relationships/notesSlide" Target="/ppt/notesSlides/notesSlide1.xml" Id="R54d59db6a6ce4a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f3c1575e640e4" /><Relationship Type="http://schemas.openxmlformats.org/officeDocument/2006/relationships/notesSlide" Target="/ppt/notesSlides/notesSlide2.xml" Id="Rdc6bfe7f8453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d6e0fb9904800" /><Relationship Type="http://schemas.openxmlformats.org/officeDocument/2006/relationships/notesSlide" Target="/ppt/notesSlides/notesSlide3.xml" Id="R0f1bcbea2b0c46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0dd9ecc42424c" /><Relationship Type="http://schemas.openxmlformats.org/officeDocument/2006/relationships/notesSlide" Target="/ppt/notesSlides/notesSlide4.xml" Id="R1c2c139b365c46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dc52e8263458b" /><Relationship Type="http://schemas.openxmlformats.org/officeDocument/2006/relationships/chart" Target="/ppt/slides/charts/chart1.xml" Id="Re207e09820ab4c61" /><Relationship Type="http://schemas.openxmlformats.org/officeDocument/2006/relationships/notesSlide" Target="/ppt/notesSlides/notesSlide5.xml" Id="R53efc83f3f1742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f589e49174d33" /><Relationship Type="http://schemas.openxmlformats.org/officeDocument/2006/relationships/image" Target="/ppt/media/image3.png" Id="R64ae9592c0fa48ef" /><Relationship Type="http://schemas.openxmlformats.org/officeDocument/2006/relationships/notesSlide" Target="/ppt/notesSlides/notesSlide6.xml" Id="Rbd5e4bd15c1243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867e24993435b" /><Relationship Type="http://schemas.openxmlformats.org/officeDocument/2006/relationships/notesSlide" Target="/ppt/notesSlides/notesSlide7.xml" Id="R12e02f90ee6c48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bbf67f9a5492d" /><Relationship Type="http://schemas.openxmlformats.org/officeDocument/2006/relationships/notesSlide" Target="/ppt/notesSlides/notesSlide8.xml" Id="Rb28a65afe7b54dc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23C9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19A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4A62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B6BFB"/>
              </a:solidFill>
            </c:spPr>
          </c:dPt>
          <c:cat>
            <c:strLit>
              <c:ptCount val="3"/>
              <c:pt idx="0">
                <c:v>UFI Phone pilot target*</c:v>
              </c:pt>
              <c:pt idx="1">
                <c:v>Apple cellular premium ×10</c:v>
              </c:pt>
              <c:pt idx="2">
                <c:v>RingCentral Essentials ×10</c:v>
              </c:pt>
            </c:strLit>
          </c:cat>
          <c:val>
            <c:numLit>
              <c:formatCode>$#,##0</c:formatCode>
              <c:ptCount val="3"/>
              <c:pt idx="0">
                <c:v>409</c:v>
              </c:pt>
              <c:pt idx="1">
                <c:v>1500</c:v>
              </c:pt>
              <c:pt idx="2">
                <c:v>2399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633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1baf2d48b4bc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66DEC-5DA0-4208-8284-0E5BDA72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65000">
                <a:srgbClr val="071A2B">
                  <a:alpha val="92000"/>
                </a:srgbClr>
              </a:gs>
              <a:gs pos="100000">
                <a:srgbClr val="071A2B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1b5aa9cb549f5"/>
          <a:stretch xmlns:a="http://schemas.openxmlformats.org/drawingml/2006/main"/>
        </p:blipFill>
        <p:spPr>
          <a:xfrm xmlns:a="http://schemas.openxmlformats.org/drawingml/2006/main">
            <a:off x="704850" y="4572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F330C-FEB8-4900-9C24-1CA85AC1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FEF83-3A21-419D-A063-DBD2B229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v0.5.0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27038-05CD-4BB1-8BBF-3858EDD9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217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Private carrier calls and SMS on the screens you already 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35CC8-F8BB-4291-9620-07F34210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EDCE4-1B5A-456D-B24C-9ADE222F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Tested UFI003 profile with Ucell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D03DC-4E55-41BD-A29A-0F1BB0C6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rPr>
              <a:t>Android, Linux and Windows release 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3F600-05D0-46D5-824A-E024296D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rPr>
              <a:t>TUIT startup pitch  /  24 September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87B70-C656-4238-B87B-FF61A96D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75063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D4A54-76CD-4F32-9342-45E99012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3219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963C0-4C01-4920-A1F8-608D4B37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7C7F7-777E-4891-858F-15016C1E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10FC3-C142-4B75-A568-760B6CB0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Product proof in v0.5.0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1BAC5-29DB-4B22-B200-4AC166E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The local gateway now covers the everyday calling and messaging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F96A4-E785-4C5D-9E00-AACF4791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CALLS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B85DA-CDC8-445A-87E9-DFB1E35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61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2-way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D7216-95EF-4C39-BB4D-75CEF0DB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619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Incoming and outgoing ordinary carrier calls with answer, hang up and duplex audio.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A8662-5907-4BCD-8D6B-B13E597E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619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Incoming-call UI and local call history are complete.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B0BEC-5CE8-4D26-B409-CD0D5ACE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MESSAGES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C43D1-521F-4B55-9CF0-DF0E0027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58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58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38A00-C93B-4B6D-9470-F69A2BEC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Receive, read and send SMS directly over the modem's private 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0FA85-C76B-46A0-8360-40757DBA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Telegram is optional and disabled by default.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CCCB0-60C9-4097-BCCF-1B8583C2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B61D4-8E1D-4E23-8766-2FC425CE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53075"/>
            <a:ext cx="1043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Network-mode health and automatic recovery keep incoming-call fallback ready after reboot.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1111A-E156-4831-B059-392A26DD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  •  24 Sep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BD250-8192-425D-9A1C-60E3DF1E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905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2752725"/>
            <a:ext cx="8572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82000" y="2752725"/>
            <a:ext cx="8572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382000" y="2181225"/>
            <a:ext cx="85725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2752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2752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2DC2DE-E0F6-49A2-8DD9-F02DD915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236D7-06F4-496B-80DA-DFB54B70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8EE13-FB3D-4B0B-A5F0-4E192F64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Evidence-based product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644EC-87F5-462A-8D84-37358849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The tested UFI003 owns the SIM, radio state, carrier call and SMS 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13C88-4D4A-42C7-974A-A82A14ED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B3E"/>
          </a:solidFill>
          <a:ln xmlns:a="http://schemas.openxmlformats.org/drawingml/2006/main" w="14288">
            <a:solidFill>
              <a:srgbClr val="31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B4F50-F1FF-46B6-A1DC-5032A399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Mobile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663B7-98D0-45F5-A836-E90E68E8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DC21B-3272-451C-B4C2-ACC28748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Tested UFI003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SIM • radio • 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6CCF0-13A2-486F-929C-12D41A05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1D879-4C3A-477C-8F93-DC36B57F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Authenticated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private 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98946-ED9D-496C-A720-57319F75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42884-D052-4F74-B822-2195E84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B5999-BA19-4437-AE39-F60AF3E2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D2A53-D587-440B-A018-B4E1E9A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Android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75BD8-42FF-4DBB-B58B-83DEB905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Linux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339E5-4CD1-42AD-A518-545D14BF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73CFF-BBEA-409F-9779-273F06C1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Voice path: LTE data hands the call to WCDMA/HSPA for 2G/3G circuit-switched audio.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3CD3D-EFCB-41C0-AF8E-EE473DE5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rPr>
              <a:t>Operator VoLTE availability does not give this modem a usable IMS stack.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B72E8-8302-4948-A798-5D181085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Scope: non-emergency ordinary calls only, one active call and one audio client.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A2DE7B-BEE9-4D89-8D63-3D8FFDAB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The guarded installer accepts the exact tested UFI003 profile. Look-alike hardware is refused.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7E7024-1EDA-4335-8D12-E566CD04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  •  24 Sep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AC7D98-D5DF-403E-AD4B-DE015743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9859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876EB-0718-4817-8946-7CFD5E66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4309A-A5EF-4BDB-B5C6-E1A26D6C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4313F-EDBC-4EA3-B05E-688D366C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Release packaging and platform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4F31D-94C6-4342-AD09-64390794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Commit 116de47 produced three artifacts in a successful GitHub Actions run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733800"/>
                <a:gridCol w="2000250"/>
                <a:gridCol w="3714750"/>
              </a:tblGrid>
              <a:tr h="47625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Platform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What ships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Built evidence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Remaining gate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Android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UFI Phone v0.5.0 with responsive Calls, Keypad and Messages UI; landscape keypad fixed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API 36 AAB built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Publisher account, upload signing, Play forms and closed test if applicable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Linux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Desktop calls, SMS, local history and two-way audio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x86_64 executable built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Installer and support QA on target distributions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Windows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Portable desktop app with calls, SMS, history and PortAudio support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x86_64 executable built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Installer signing and support QA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UFI003 gateway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Device doctor, guarded installer, calls, SMS, audio and radio recovery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Exact profile tested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Near-match hardware remains refused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8E4F6-BE4E-47D7-8F0D-ED3D234E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  •  24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AD971-BC65-4620-9A50-D830BBF7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0997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A02EE-B990-4FA2-A68A-BA8EB099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A6CF4-B43D-4092-A28F-1CE6EE8E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1BF2E-6CD7-4B06-9884-99685DB4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First-year cost benchmark for ten devices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797B8-5BF0-4E46-9EDD-EE4338A5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 uses one tested gateway and screens the organization already owns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DCCB1-2DB5-49B4-A9E5-D7DA9788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$10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E07E8-8121-49BB-B43C-0BB367EC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founder purchase price for the tested modem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24F46-8AFC-4E92-A170-504922E9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E915B-CF49-4B0C-95F6-9C519FD3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Pilot pricing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EA5FE-639D-4857-9E03-5264B15A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$49 starter kit + $3 per active device each month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= $409 in year 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E2991-2D22-4B7E-949C-280C57BD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The pilot must measure installer time, support workload and profile-maintenance cost before launch pricing is set.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476750" y="1857375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07e09820ab4c61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0BB72-088F-4EF4-850A-35144E9D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864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*Hypothesis, not a launched offer. Carrier plan, taxes and existing screens are excluded. The products do not provide the same feature 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72958-83FD-4C52-B0AF-04CB863E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  •  24 Sep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DFCA8-EBD6-4143-BB0B-84DDFC64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2505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e9592c0fa48ef"/>
          <a:srcRect xmlns:a="http://schemas.openxmlformats.org/drawingml/2006/main" l="18000" t="2000" r="2000" b="2000"/>
          <a:stretch xmlns:a="http://schemas.openxmlformats.org/drawingml/2006/main"/>
        </p:blipFill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75C04-160F-4355-BD1C-AB2A9AFF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0"/>
            <a:ext cx="114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48000">
                <a:srgbClr val="071A2B">
                  <a:alpha val="84000"/>
                </a:srgbClr>
              </a:gs>
              <a:gs pos="100000">
                <a:srgbClr val="071A2B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8FEC8-8275-40B2-8CBA-C340C7DE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ECB73-06E6-4676-85D5-9ABB81B4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ECAB8-7AE8-45CA-8955-1725FEC8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Uzbekistan beachhead and go-to-market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728E9-F797-47B8-82C2-296DAA4E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Start with one tested operator and one exact device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B929F-333D-4FD8-B59B-D4D7A61A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4350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36.35M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F089E-8EEE-43B0-AC00-D1B91A3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mobile subscriptions in Uzbekistan as of 1 April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3DF32-BCDC-4BCA-A480-340BAF93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3678F-94AD-4F18-8E6F-702F9EE8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BEACHHEAD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53B46-B56F-451C-83EF-00ABF8A6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CB25-755E-4093-A40D-11C61891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Retail and service desks using one public number on existing Wi-Fi screens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08936-9DB8-4CAB-8646-B52FCFB1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988F3-56FC-44E2-BC56-EA8AB46E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Campus offices and labs that need a departmental SIM on tablets and PCs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D97E5-1B97-4056-98CC-41A17AD8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B9CBA-84CB-4C5A-A649-33CCCC3B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Field sites where a fixed PBX or a full UCaaS suite is disproportionate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A2A76-CC86-4ED4-98A6-956E393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C0FD2-C98C-4268-B287-5A9C7086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GO TO MARKET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81E043-0BA1-4DBB-B43C-278B93EA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Start with paid Ucell pilots on the tested UFI003.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Add operators only after SIM and tariff acceptance.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Channel hypothesis: modem resellers and local IT installers.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2930E-4219-4BB6-864F-1FC2272D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  •  24 Sep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D7674-A3D7-4CEA-A865-62115D07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1549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2D8DE-EE2E-4774-9A07-CB16A570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D18DA-41FA-4834-9EBA-92F04654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84ACD-0B41-41D3-BBE4-4239CB9B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Uzbekistan operator compatibility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D4525-91B6-4BBE-9745-A578BD7E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VoLTE on the operator network is separate from IMS support inside this UFI003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57500"/>
                <a:gridCol w="4305300"/>
                <a:gridCol w="2476500"/>
              </a:tblGrid>
              <a:tr h="4572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Operator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Network evidence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UFI003 evidence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Commercial claim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Ucell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Official VoLTE offer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Tested: LTE data, SMS, calls and two-way audio; voice falls back to WCDMA/HSPA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Reference operator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Mobiuz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page documents 2G/3G fallback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No project SIM test yet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Validate SIM and tariff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Uzmobile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page documents 2G/3G handover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No project SIM test yet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Validate SIM, APN and LTE return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Beeline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for compatible USIM and device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Modem IMS unusable; circuit-switched path untested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Validate intended tariff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Humans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Mobile service uses the Uzmobile network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MVNO provisioning remains untested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Test separately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Perfectum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CDMA and 5G SA/VoNR device paths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Incompatible with this exact UFI003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Unsupported on this hardware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66B97-056E-488E-8803-4FB5B125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  •  24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3A6E0-B873-4E61-B2F5-C99FBEF6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6788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1D5A76-3538-4610-A103-EF9F5A7F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6ABA8-6DDD-4D5D-8D63-72022CF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D1AC1-D9E6-4909-BADA-47E9527A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90-day commercialization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60B9F-BCD0-4193-AD38-0EE294C4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Release packaging is ready; operator acceptance and publisher prerequisites now determine the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FF816-982F-49A1-931C-7AA7B3E6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DAYS 0–30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1A0B1-A34C-4EC6-ADD8-14BF6E85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Release and 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2068E-3483-4F27-A5DF-84D84C35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85A03-BBA1-40EC-8845-3874C8F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Play account, support email and upload key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Play App Signing and store declarations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12 testers for 14 days if the new-account rule applies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Signed release tag with synthetic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F6E42-90C6-4313-BB3B-B8225C20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DAYS 31–60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A904F-C7C3-4330-A583-CCE96AF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Operator acceptance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7B6F3-5A29-41A7-85C7-D55FB876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6B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ECD09-BF91-4CB5-8F8D-564E4D3B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Mobiuz, Uzmobile, Beeline and Humans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SIM and tariff matrix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Ten cold boots per operator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Calls, audio, SMS and return to LTE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03065-6DE7-421C-8FD1-F62C6375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DAYS 61–90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98D36-411E-4079-BDC2-D022DDB5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Pilot and expand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3970C-EED7-4238-B3D3-9E6F93F0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15C03-55EA-4847-B4E1-16127210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Three paid Ucell sites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Measure setup, missed events and support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Polish Phone UX/calls; profile a second modem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Start the macOS protocol package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53734-EFCA-4ED4-8521-3994C84D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11F1D"/>
          </a:solidFill>
          <a:ln xmlns:a="http://schemas.openxmlformats.org/drawingml/2006/main" w="12383">
            <a:solidFill>
              <a:srgbClr val="7B4D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203B4-C381-4986-84F2-0029ED1D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D5CE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FD5CE"/>
                </a:solidFill>
                <a:latin typeface="Noto Sans"/>
                <a:ea typeface="Noto Sans"/>
                <a:cs typeface="Noto Sans"/>
              </a:rPr>
              <a:t>Commercial risks: 2G/3G fallback availability, operator and tariff approval, privileged gateway signing, and Play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B8032-2850-47B7-9974-B334F62D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APPLE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1495A-E835-4AF9-A46B-4974D74E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15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macOS first. iPadOS follows for foreground calls and SMS. Reliable background ringing needs compliant push and adds a cloud dependency.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53DB4-2FE2-4494-BE69-915D33EF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TUIT 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600B4-D6AE-491F-8D5C-A8990A68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054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Telecom mentor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Four operator SIMs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Three pilot sites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Play tester cohort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96C28-1070-443F-ABE1-E140626C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  •  24 Sep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0B8FAE-B6CF-4354-A835-191E7178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8788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2026-09-24T11:31:49.7910000Z</dcterms:created>
  <dcterms:modified xsi:type="dcterms:W3CDTF">2026-09-24T11:31:49.7910000Z</dcterms:modified>
</coreProperties>
</file>