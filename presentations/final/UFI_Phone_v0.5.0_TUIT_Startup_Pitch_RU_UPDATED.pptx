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4577dbb3c44e8c" /><Relationship Type="http://schemas.openxmlformats.org/officeDocument/2006/relationships/extended-properties" Target="/docProps/app.xml" Id="Ra26b4116f8004e59" /><Relationship Type="http://schemas.openxmlformats.org/officeDocument/2006/relationships/officeDocument" Target="/ppt/presentation.xml" Id="R4b7b0989a6724f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9ad1a9eab54a72"/>
  </p:sldMasterIdLst>
  <p:notesMasterIdLst>
    <p:notesMasterId xmlns:r="http://schemas.openxmlformats.org/officeDocument/2006/relationships" r:id="Rd6db0538435c459b"/>
  </p:notesMasterIdLst>
  <p:sldIdLst>
    <p:sldId xmlns:r="http://schemas.openxmlformats.org/officeDocument/2006/relationships" id="256" r:id="Rf4f19a012b264ad1"/>
    <p:sldId xmlns:r="http://schemas.openxmlformats.org/officeDocument/2006/relationships" id="257" r:id="R2e616e45594c42d9"/>
    <p:sldId xmlns:r="http://schemas.openxmlformats.org/officeDocument/2006/relationships" id="258" r:id="R33258741f62c4698"/>
    <p:sldId xmlns:r="http://schemas.openxmlformats.org/officeDocument/2006/relationships" id="259" r:id="R820401900a6646fe"/>
    <p:sldId xmlns:r="http://schemas.openxmlformats.org/officeDocument/2006/relationships" id="260" r:id="R06c930c351fa4080"/>
    <p:sldId xmlns:r="http://schemas.openxmlformats.org/officeDocument/2006/relationships" id="261" r:id="R0e47ec14f3d04083"/>
    <p:sldId xmlns:r="http://schemas.openxmlformats.org/officeDocument/2006/relationships" id="262" r:id="R64eda085a8a24459"/>
    <p:sldId xmlns:r="http://schemas.openxmlformats.org/officeDocument/2006/relationships" id="263" r:id="R1355495de21e41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5671575d654c8e" /><Relationship Type="http://schemas.openxmlformats.org/officeDocument/2006/relationships/slideMaster" Target="/ppt/slideMasters/slideMaster1.xml" Id="Rde9ad1a9eab54a72" /><Relationship Type="http://schemas.openxmlformats.org/officeDocument/2006/relationships/notesMaster" Target="/ppt/notesMasters/notesMaster1.xml" Id="Rd6db0538435c459b" /><Relationship Type="http://schemas.openxmlformats.org/officeDocument/2006/relationships/presProps" Target="/ppt/presProps.xml" Id="R6c75182ff54d4816" /><Relationship Type="http://schemas.openxmlformats.org/officeDocument/2006/relationships/tableStyles" Target="/ppt/tableStyles.xml" Id="R95f7b55361bc4476" /><Relationship Type="http://schemas.openxmlformats.org/officeDocument/2006/relationships/slide" Target="/ppt/slides/slide1.xml" Id="Rf4f19a012b264ad1" /><Relationship Type="http://schemas.openxmlformats.org/officeDocument/2006/relationships/slide" Target="/ppt/slides/slide2.xml" Id="R2e616e45594c42d9" /><Relationship Type="http://schemas.openxmlformats.org/officeDocument/2006/relationships/slide" Target="/ppt/slides/slide3.xml" Id="R33258741f62c4698" /><Relationship Type="http://schemas.openxmlformats.org/officeDocument/2006/relationships/slide" Target="/ppt/slides/slide4.xml" Id="R820401900a6646fe" /><Relationship Type="http://schemas.openxmlformats.org/officeDocument/2006/relationships/slide" Target="/ppt/slides/slide5.xml" Id="R06c930c351fa4080" /><Relationship Type="http://schemas.openxmlformats.org/officeDocument/2006/relationships/slide" Target="/ppt/slides/slide6.xml" Id="R0e47ec14f3d04083" /><Relationship Type="http://schemas.openxmlformats.org/officeDocument/2006/relationships/slide" Target="/ppt/slides/slide7.xml" Id="R64eda085a8a24459" /><Relationship Type="http://schemas.openxmlformats.org/officeDocument/2006/relationships/slide" Target="/ppt/slides/slide8.xml" Id="R1355495de21e41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b97a70ca544a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9c647f0a36472e" /><Relationship Type="http://schemas.openxmlformats.org/officeDocument/2006/relationships/notesMaster" Target="/ppt/notesMasters/notesMaster1.xml" Id="Rf1b55db4cb1b47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0df9bf969a4516" /><Relationship Type="http://schemas.openxmlformats.org/officeDocument/2006/relationships/notesMaster" Target="/ppt/notesMasters/notesMaster1.xml" Id="Rd8ffa7c427a54a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8730e028b84151" /><Relationship Type="http://schemas.openxmlformats.org/officeDocument/2006/relationships/notesMaster" Target="/ppt/notesMasters/notesMaster1.xml" Id="Re3d51f9fd9e94d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5c6d57674b4293" /><Relationship Type="http://schemas.openxmlformats.org/officeDocument/2006/relationships/notesMaster" Target="/ppt/notesMasters/notesMaster1.xml" Id="Rb5f93563558b48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b21388937242ac" /><Relationship Type="http://schemas.openxmlformats.org/officeDocument/2006/relationships/notesMaster" Target="/ppt/notesMasters/notesMaster1.xml" Id="R09729f40175a4e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d77f3d693e4d6e" /><Relationship Type="http://schemas.openxmlformats.org/officeDocument/2006/relationships/notesMaster" Target="/ppt/notesMasters/notesMaster1.xml" Id="R295e4d3ee3ff42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13a00f39144971" /><Relationship Type="http://schemas.openxmlformats.org/officeDocument/2006/relationships/notesMaster" Target="/ppt/notesMasters/notesMaster1.xml" Id="R124b7828790345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43688b28f44755" /><Relationship Type="http://schemas.openxmlformats.org/officeDocument/2006/relationships/notesMaster" Target="/ppt/notesMasters/notesMaster1.xml" Id="R8c3a09fbe3764a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Доказательства продукта: UFI Phone v0.5.0 at repository commit 3cd8b565191dec47d1df9f079d8dd2b0ecd5529b. The repository documents direct local SMS, incoming and outgoing ordinary carrier calls, two-way audio, call history, incoming-call UI, radio-mode recovery, Android, Linux and Windows clients.</a:t>
            </a:r>
          </a:p>
          <a:p xmlns:a="http://schemas.openxmlformats.org/drawingml/2006/main">
            <a:r>
              <a:t>https://github.com/Ruskuv1708/ufi-sms-telegram-forwarder/commit/3cd8b565191dec47d1df9f079d8dd2b0ecd5529b</a:t>
            </a:r>
          </a:p>
          <a:p xmlns:a="http://schemas.openxmlformats.org/drawingml/2006/main">
            <a:r>
              <a:t>https://github.com/Ruskuv1708/ufi-sms-telegram-forwarder/blob/3cd8b565191dec47d1df9f079d8dd2b0ecd5529b/README.md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cover illustration contains no customer data and does not depict the tested physical device.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Данные репозитория: direct local SMS receive/read/send, incoming and outgoing ordinary carrier calls, two-way audio, incoming-call UI, call history, network-mode health and recovery. Telegram remains an optional compatibility path and the installer leaves it disabled.</a:t>
            </a:r>
          </a:p>
          <a:p xmlns:a="http://schemas.openxmlformats.org/drawingml/2006/main">
            <a:r>
              <a:t>https://github.com/Ruskuv1708/ufi-sms-telegram-forwarder/blob/3cd8b565191dec47d1df9f079d8dd2b0ecd5529b/README.md</a:t>
            </a:r>
          </a:p>
          <a:p xmlns:a="http://schemas.openxmlformats.org/drawingml/2006/main">
            <a:r>
              <a:t>https://github.com/Ruskuv1708/ufi-sms-telegram-forwarder/blob/3cd8b565191dec47d1df9f079d8dd2b0ecd5529b/docs/product-vision.md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real phone numbers, SMS content, tokens or private screenshots are included in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Техническая граница: the tested UFI003 firmware has no usable IMS stack. Ucell calls work by moving from LTE data to WCDMA/HSPA for circuit-switched voice, then returning to LTE. Operator VoLTE availability and modem IMS capability are separate facts.</a:t>
            </a:r>
          </a:p>
          <a:p xmlns:a="http://schemas.openxmlformats.org/drawingml/2006/main">
            <a:r>
              <a:t>https://github.com/Ruskuv1708/ufi-sms-telegram-forwarder/blob/3cd8b565191dec47d1df9f079d8dd2b0ecd5529b/README.md</a:t>
            </a:r>
          </a:p>
          <a:p xmlns:a="http://schemas.openxmlformats.org/drawingml/2006/main">
            <a:r>
              <a:t>https://github.com/Ruskuv1708/ufi-sms-telegram-forwarder/blob/3cd8b565191dec47d1df9f079d8dd2b0ecd5529b/hardware-profiles.json</a:t>
            </a:r>
          </a:p>
          <a:p xmlns:a="http://schemas.openxmlformats.org/drawingml/2006/main">
            <a:r>
              <a:t>https://github.com/Ruskuv1708/ufi-sms-telegram-forwarder/blob/3cd8b565191dec47d1df9f079d8dd2b0ecd5529b/docs/uzbekistan-market-and-operator-compatibility.md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gateway is restricted to the modem LAN and requires a pairing token. The current scope excludes emergency numbers, short codes, service codes, supplementary services and native IMS/VoLTE.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Подтверждение сборок: GitHub Actions run #3 for build commit 116de4779f0a3eed155390c43de84b1bb24f3df5 finished successfully and produced three artifacts: Android AAB (660 KB), Linux x86_64 executable (23 MB) and Windows x86_64 executable (11.9 MB).</a:t>
            </a:r>
          </a:p>
          <a:p xmlns:a="http://schemas.openxmlformats.org/drawingml/2006/main">
            <a:r>
              <a:t>https://github.com/Ruskuv1708/ufi-sms-telegram-forwarder/actions/runs/35964803887</a:t>
            </a:r>
          </a:p>
          <a:p xmlns:a="http://schemas.openxmlformats.org/drawingml/2006/main">
            <a:r>
              <a:t>https://github.com/Ruskuv1708/ufi-sms-telegram-forwarder/commit/116de4779f0a3eed155390c43de84b1bb24f3df5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current repository state is 3cd8b565191dec47d1df9f079d8dd2b0ecd5529b. It consolidates the product, presentation source and release-artifact documentation in one workspace.</a:t>
            </a:r>
          </a:p>
          <a:p xmlns:a="http://schemas.openxmlformats.org/drawingml/2006/main">
            <a:r>
              <a:t>https://github.com/Ruskuv1708/ufi-sms-telegram-forwarder/commit/3cd8b565191dec47d1df9f079d8dd2b0ecd5529b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Android targets API 36. The repository contains the responsive Google-style Calls, Keypad and Messages interface, including the corrected landscape keypad. Only the ordinary Android companion belongs in Google Play. The privileged modem gateway remains behind the exact-profile installer.</a:t>
            </a:r>
          </a:p>
          <a:p xmlns:a="http://schemas.openxmlformats.org/drawingml/2006/main">
            <a:r>
              <a:t>https://github.com/Ruskuv1708/ufi-sms-telegram-forwarder/blob/3cd8b565191dec47d1df9f079d8dd2b0ecd5529b/distribution/google-play/release-checklist.md</a:t>
            </a:r>
          </a:p>
          <a:p xmlns:a="http://schemas.openxmlformats.org/drawingml/2006/main">
            <a:r>
              <a:t>https://github.com/Ruskuv1708/ufi-sms-telegram-forwarder/blob/3cd8b565191dec47d1df9f079d8dd2b0ecd5529b/docs/adding-hardware-profiles.md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и допущения:</a:t>
            </a:r>
          </a:p>
          <a:p xmlns:a="http://schemas.openxmlformats.org/drawingml/2006/main">
            <a:r>
              <a:t>- Apple showed a $150 difference between Wi-Fi and Wi-Fi + Cellular at the same base iPad storage tier on 24 September 2026. Ten devices add $1,500. https://www.apple.com/shop/buy-ipad/ipad</a:t>
            </a:r>
          </a:p>
          <a:p xmlns:a="http://schemas.openxmlformats.org/drawingml/2006/main">
            <a:r>
              <a:t>- RingCentral Essentials started at $19.99 per user each month with annual billing on 24 September 2026. Ten users for 12 months cost $2,398.80, rounded to $2,399. https://www.ringcentral.com/shared/content/plans-and-pricing.html</a:t>
            </a:r>
          </a:p>
          <a:p xmlns:a="http://schemas.openxmlformats.org/drawingml/2006/main">
            <a:r>
              <a:t>- UFI Phone pilot pricing remains a hypothesis: $49 starter kit + $3 × 10 active devices × 12 months = $409 in year one. The $10 modem price is the founder's purchase price and is not a supplier quote or validated scalable BOM.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compares budget anchors rather than equivalent products. RingCentral includes a broad UCaaS feature set. Cellular iPad pricing buys data connectivity rather than this local carrier-call gateway.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Данные рынка: Uzbekistan had 36.3483 million mobile subscriptions, or 96.6 per 100 residents, as of 1 April 2025. The national competition authority identifies six operators. These figures show market scale and do not forecast UFI Phone demand.</a:t>
            </a:r>
          </a:p>
          <a:p xmlns:a="http://schemas.openxmlformats.org/drawingml/2006/main">
            <a:r>
              <a:t>https://stat.uz/files/538/2025-Choraklik-natijalar-january--march-ang/3940/Report-for-January-March-2025.pdf</a:t>
            </a:r>
          </a:p>
          <a:p xmlns:a="http://schemas.openxmlformats.org/drawingml/2006/main">
            <a:r>
              <a:t>https://raqobat.gov.uz/ru/rezultaty-analiza-rynka-uslug-mobilnoj-svyazi/</a:t>
            </a:r>
          </a:p>
          <a:p xmlns:a="http://schemas.openxmlformats.org/drawingml/2006/main">
            <a:r>
              <a:t>https://github.com/Ruskuv1708/ufi-sms-telegram-forwarder/blob/3cd8b565191dec47d1df9f079d8dd2b0ecd5529b/docs/uzbekistan-market-and-operator-compatibility.md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Customer segments, channel design and paid-pilot sequencing remain hypotheses for validation. The image is generated and illustrative; it contains no real customer, call or message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по операторам:</a:t>
            </a:r>
          </a:p>
          <a:p xmlns:a="http://schemas.openxmlformats.org/drawingml/2006/main">
            <a:r>
              <a:t>- Ucell VoLTE/ViLTE announcement: https://ucell.uz/en/company_news/ucell_volte_vilte-_texnologiyalarining_yangi_ufqlari</a:t>
            </a:r>
          </a:p>
          <a:p xmlns:a="http://schemas.openxmlformats.org/drawingml/2006/main">
            <a:r>
              <a:t>- Mobiuz VoLTE and 2G/3G fallback: https://corp.mobi.uz/en/uslugi/volte/?VOICE=Y</a:t>
            </a:r>
          </a:p>
          <a:p xmlns:a="http://schemas.openxmlformats.org/drawingml/2006/main">
            <a:r>
              <a:t>- Uzmobile VoLTE and 2G/3G handover: https://uztelecom.uz/en/for-individuals/mobile-communication/gsm/services/additional-services/volte/</a:t>
            </a:r>
          </a:p>
          <a:p xmlns:a="http://schemas.openxmlformats.org/drawingml/2006/main">
            <a:r>
              <a:t>- Beeline VoLTE requirements: https://b2b.beeline.uz/en/products/services/volte</a:t>
            </a:r>
          </a:p>
          <a:p xmlns:a="http://schemas.openxmlformats.org/drawingml/2006/main">
            <a:r>
              <a:t>- Humans network information: https://qr.humans.uz/ru/telecom</a:t>
            </a:r>
          </a:p>
          <a:p xmlns:a="http://schemas.openxmlformats.org/drawingml/2006/main">
            <a:r>
              <a:t>- Perfectum CDMA and supported-device ecosystem: https://perfectum.uz/uz/cdma and https://perfectum.uz/uz/pages/sotni-ustroistv</a:t>
            </a:r>
          </a:p>
          <a:p xmlns:a="http://schemas.openxmlformats.org/drawingml/2006/main">
            <a:r>
              <a:t>- Project compatibility report and required SIM acceptance matrix: https://github.com/Ruskuv1708/ufi-sms-telegram-forwarder/blob/3cd8b565191dec47d1df9f079d8dd2b0ecd5529b/docs/uzbekistan-market-and-operator-compatibility.md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Only Ucell has passed the project's LTE data, direct SMS, incoming/outgoing call and two-way-audio tests on this exact UFI003. Mobiuz, Uzmobile, Beeline and Humans require actual SIM and tariff validation. Perfectum paths are unsupported on this hardware.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по публикации и платформам:</a:t>
            </a:r>
          </a:p>
          <a:p xmlns:a="http://schemas.openxmlformats.org/drawingml/2006/main">
            <a:r>
              <a:t>- Google Play checklist and current project prerequisites: https://github.com/Ruskuv1708/ufi-sms-telegram-forwarder/blob/3cd8b565191dec47d1df9f079d8dd2b0ecd5529b/distribution/google-play/release-checklist.md</a:t>
            </a:r>
          </a:p>
          <a:p xmlns:a="http://schemas.openxmlformats.org/drawingml/2006/main">
            <a:r>
              <a:t>- Target API requirements: https://support.google.com/googleplay/android-developer/answer/11926878?hl=en</a:t>
            </a:r>
          </a:p>
          <a:p xmlns:a="http://schemas.openxmlformats.org/drawingml/2006/main">
            <a:r>
              <a:t>- Android App Bundles: https://developer.android.com/guide/app-bundle</a:t>
            </a:r>
          </a:p>
          <a:p xmlns:a="http://schemas.openxmlformats.org/drawingml/2006/main">
            <a:r>
              <a:t>- Play App Signing: https://developer.android.com/studio/publish/app-signing</a:t>
            </a:r>
          </a:p>
          <a:p xmlns:a="http://schemas.openxmlformats.org/drawingml/2006/main">
            <a:r>
              <a:t>- Production access for new personal accounts: https://support.google.com/googleplay/android-developer/answer/14151465?hl=en</a:t>
            </a:r>
          </a:p>
          <a:p xmlns:a="http://schemas.openxmlformats.org/drawingml/2006/main">
            <a:r>
              <a:t>- Apple platform roadmap: https://github.com/Ruskuv1708/ufi-sms-telegram-forwarder/blob/3cd8b565191dec47d1df9f079d8dd2b0ecd5529b/docs/apple-platform-roadmap.md</a:t>
            </a:r>
          </a:p>
          <a:p xmlns:a="http://schemas.openxmlformats.org/drawingml/2006/main">
            <a:r>
              <a:t>- Apple local-network privacy: https://developer.apple.com/documentation/technotes/tn3179-understanding-local-network-privacy</a:t>
            </a:r>
          </a:p>
          <a:p xmlns:a="http://schemas.openxmlformats.org/drawingml/2006/main">
            <a:r>
              <a:t>- CallKit: https://developer.apple.com/documentation/CallKit</a:t>
            </a:r>
          </a:p>
          <a:p xmlns:a="http://schemas.openxmlformats.org/drawingml/2006/main">
            <a:r>
              <a:t>- macOS notarization: https://developer.apple.com/documentation/Security/notarizing-macos-software-before-distribution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macOS is the recommended first Apple platform. An iPadOS foreground companion can use the local modem connection, but reliable background incoming calls require a compliant push architecture. That choice adds a server and changes the current local-only privacy model. Milestones and pilot counts are proposed targets, not completed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128d9834ab4e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d5d7ba89784310" /><Relationship Type="http://schemas.openxmlformats.org/officeDocument/2006/relationships/slideLayout" Target="/ppt/slideLayouts/slideLayout1.xml" Id="R2e65cac253484a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65cac253484a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fb1bd7d584659" /><Relationship Type="http://schemas.openxmlformats.org/officeDocument/2006/relationships/image" Target="/ppt/media/image.png" Id="R89f2e7f9aeeb43f5" /><Relationship Type="http://schemas.openxmlformats.org/officeDocument/2006/relationships/image" Target="/ppt/media/image2.png" Id="Rf2eb66fcf51f4fdb" /><Relationship Type="http://schemas.openxmlformats.org/officeDocument/2006/relationships/notesSlide" Target="/ppt/notesSlides/notesSlide1.xml" Id="R955c652f8fc246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f62ef070b4307" /><Relationship Type="http://schemas.openxmlformats.org/officeDocument/2006/relationships/notesSlide" Target="/ppt/notesSlides/notesSlide2.xml" Id="Raee8e5e008dc4f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e8274c8fd4f68" /><Relationship Type="http://schemas.openxmlformats.org/officeDocument/2006/relationships/notesSlide" Target="/ppt/notesSlides/notesSlide3.xml" Id="R88c3e16df4f846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0b899a6eb4234" /><Relationship Type="http://schemas.openxmlformats.org/officeDocument/2006/relationships/notesSlide" Target="/ppt/notesSlides/notesSlide4.xml" Id="Rc225fd96e7a845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4775699144cf1" /><Relationship Type="http://schemas.openxmlformats.org/officeDocument/2006/relationships/chart" Target="/ppt/slides/charts/chart1.xml" Id="R6a93d19e672249d0" /><Relationship Type="http://schemas.openxmlformats.org/officeDocument/2006/relationships/notesSlide" Target="/ppt/notesSlides/notesSlide5.xml" Id="R6be4c459dddf45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2733151784bca" /><Relationship Type="http://schemas.openxmlformats.org/officeDocument/2006/relationships/image" Target="/ppt/media/image3.png" Id="Rf2a3cfdcb5a74d4f" /><Relationship Type="http://schemas.openxmlformats.org/officeDocument/2006/relationships/notesSlide" Target="/ppt/notesSlides/notesSlide6.xml" Id="Rf0f2addbb4a749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05f5830f4a4d51" /><Relationship Type="http://schemas.openxmlformats.org/officeDocument/2006/relationships/notesSlide" Target="/ppt/notesSlides/notesSlide7.xml" Id="Re485528a3b0540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e7c1a044947c6" /><Relationship Type="http://schemas.openxmlformats.org/officeDocument/2006/relationships/notesSlide" Target="/ppt/notesSlides/notesSlide8.xml" Id="Rf2c82bbf0274455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USD</c:v>
          </c:tx>
          <c:spPr>
            <a:solidFill xmlns:a="http://schemas.openxmlformats.org/drawingml/2006/main">
              <a:srgbClr val="23C9D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19AA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4A62A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4B6BFB"/>
              </a:solidFill>
            </c:spPr>
          </c:dPt>
          <c:cat>
            <c:strLit>
              <c:ptCount val="3"/>
              <c:pt idx="0">
                <c:v>Цель UFI Phone*</c:v>
              </c:pt>
              <c:pt idx="1">
                <c:v>Наценка Apple ×10</c:v>
              </c:pt>
              <c:pt idx="2">
                <c:v>Лицензии RingCentral ×10</c:v>
              </c:pt>
            </c:strLit>
          </c:cat>
          <c:val>
            <c:numLit>
              <c:formatCode>$#,##0</c:formatCode>
              <c:ptCount val="3"/>
              <c:pt idx="0">
                <c:v>409</c:v>
              </c:pt>
              <c:pt idx="1">
                <c:v>1500</c:v>
              </c:pt>
              <c:pt idx="2">
                <c:v>2399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02633"/>
                  </a:solidFill>
                  <a:latin typeface="Noto Sans"/>
                  <a:ea typeface="Noto Sans"/>
                  <a:cs typeface="Noto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2e7f9aeeb43f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CDDE0-0D62-49C0-A6C2-EF3B5C7F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A2B"/>
              </a:gs>
              <a:gs pos="65000">
                <a:srgbClr val="071A2B">
                  <a:alpha val="92000"/>
                </a:srgbClr>
              </a:gs>
              <a:gs pos="100000">
                <a:srgbClr val="071A2B">
                  <a:alpha val="20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eb66fcf51f4fdb"/>
          <a:stretch xmlns:a="http://schemas.openxmlformats.org/drawingml/2006/main"/>
        </p:blipFill>
        <p:spPr>
          <a:xfrm xmlns:a="http://schemas.openxmlformats.org/drawingml/2006/main">
            <a:off x="704850" y="4572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857AC-F7A9-42D6-95D6-05B9E194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571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80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480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8804EF-33DD-4DDE-8094-C728901E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24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4B6BFB"/>
                </a:solidFill>
                <a:latin typeface="Noto Sans"/>
                <a:ea typeface="Noto Sans"/>
                <a:cs typeface="Noto Sans"/>
              </a:defRPr>
            </a:pPr>
            <a:r>
              <a:rPr sz="2025" b="1" i="0">
                <a:solidFill>
                  <a:srgbClr val="4B6BFB"/>
                </a:solidFill>
                <a:latin typeface="Noto Sans"/>
                <a:ea typeface="Noto Sans"/>
                <a:cs typeface="Noto Sans"/>
              </a:rPr>
              <a:t>v0.5.0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F2A1EF-B1E9-4E22-8E44-CEA16440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5191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20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Обычные мобильные звонки и SMS на уже имеющихся экранах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FA2F9E-0BC4-4A5D-8001-0EEEF614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3C9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36D69-83B2-4C78-B550-EBBC1B14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575" b="0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Проверенный профиль UFI003 в сети Ucell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D908B9-5F9B-488C-BC1C-FC5AD188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243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C6D8DF"/>
                </a:solidFill>
                <a:latin typeface="Noto Sans"/>
                <a:ea typeface="Noto Sans"/>
                <a:cs typeface="Noto Sans"/>
              </a:defRPr>
            </a:pPr>
            <a:r>
              <a:rPr sz="1575" b="0" i="0">
                <a:solidFill>
                  <a:srgbClr val="C6D8DF"/>
                </a:solidFill>
                <a:latin typeface="Noto Sans"/>
                <a:ea typeface="Noto Sans"/>
                <a:cs typeface="Noto Sans"/>
              </a:rPr>
              <a:t>Релизные сборки для Android, Linux и Windows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F9C324-FA3A-4A3C-ABA2-AAFD0C15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150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9EB5C0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9EB5C0"/>
                </a:solidFill>
                <a:latin typeface="Noto Sans"/>
                <a:ea typeface="Noto Sans"/>
                <a:cs typeface="Noto Sans"/>
              </a:rPr>
              <a:t>Стартап-питч для TUIT  /  24 сентября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517550-819B-4FC4-AE4B-58946603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53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RU</a:t>
            </a:r>
          </a:p>
        </p:txBody>
      </p:sp>
    </p:spTree>
    <p:extLst>
      <p:ext uri="{BB962C8B-B14F-4D97-AF65-F5344CB8AC3E}">
        <p14:creationId xmlns:p14="http://schemas.microsoft.com/office/powerpoint/2010/main" val="9258681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5C946-D2F7-438D-8762-97466D44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3219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9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AFB668-622A-49BD-B7B7-8407D219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1100EE-1959-4C26-9CCE-23BAF7E3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74D01-A2FC-46F0-A653-3C9A5DBE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Что уже работает в v0.5.0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FE9CAA-0A66-46ED-A831-D2D195FA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Локальный шлюз закрывает полный цикл обычных звонков и SMS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237AE8-823D-4D70-8C36-D6A06483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119AAA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119AAA"/>
                </a:solidFill>
                <a:latin typeface="Noto Sans"/>
                <a:ea typeface="Noto Sans"/>
                <a:cs typeface="Noto Sans"/>
              </a:rPr>
              <a:t>ЗВОНКИ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659C8-C868-4727-8585-2A5DDBD1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4667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4950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4950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Дуплекс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C22AEC-04DA-4EE8-9827-3474CC08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619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575" b="0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Входящие и исходящие вызовы, ответ, завершение и двусторонний звук.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4424AB-72FF-45B1-A1F6-C5F3440B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461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119AAA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119AAA"/>
                </a:solidFill>
                <a:latin typeface="Noto Sans"/>
                <a:ea typeface="Noto Sans"/>
                <a:cs typeface="Noto Sans"/>
              </a:rPr>
              <a:t>Готовы экран входящего вызова и локальная история.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73C256-7DFA-4E21-B659-8501E8C9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81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4B6BFB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4B6BFB"/>
                </a:solidFill>
                <a:latin typeface="Noto Sans"/>
                <a:ea typeface="Noto Sans"/>
                <a:cs typeface="Noto Sans"/>
              </a:rPr>
              <a:t>СООБЩЕНИЯ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DEFCA4-03D2-4F28-87F2-484D9420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4572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4650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4650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Локально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85D042-94F0-4BE4-8DEC-F2F4AFFB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90900"/>
            <a:ext cx="4572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575" b="0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Получение, чтение и отправка SMS напрямую по частной сети модема.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190489-ED05-419E-8404-58A7E006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3865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4B6BFB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4B6BFB"/>
                </a:solidFill>
                <a:latin typeface="Noto Sans"/>
                <a:ea typeface="Noto Sans"/>
                <a:cs typeface="Noto Sans"/>
              </a:rPr>
              <a:t>Telegram не обязателен и по умолчанию отключён.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660537-42B7-4A92-9ECE-737A4E3F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D6BE81-6E54-46F5-A131-88AE519A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53075"/>
            <a:ext cx="10439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50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Контроль режима сети и автоматическое восстановление сохраняют готовность к входящим вызовам после перезагрузки.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FB86C0-9D4B-4A81-8A6E-A49CFA0C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Стартап-питч TUIT, 24 сентября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73F327-E5E9-4B81-B194-1090AA32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49275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/>
          <p:cNvCxnSpPr>
            <a:stCxn xmlns:a="http://schemas.openxmlformats.org/drawingml/2006/main" id="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382000" y="2752725"/>
            <a:ext cx="857250" cy="1257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CDDE5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9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382000" y="2752725"/>
            <a:ext cx="857250" cy="342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CDDE5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8382000" y="2181225"/>
            <a:ext cx="857250" cy="571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CDDE5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619750" y="27527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C9D7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76500" y="27527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C9D7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A0936E-CED2-4C53-AE78-07D264F8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051ECF-8EFC-42CF-8B98-AACC3BA8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9DB4BF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9DB4BF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659DD-35A3-4D00-844B-0294340D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322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Архитектура продукта и технические границы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E2BD23-B0CE-4A29-B2CC-BA9210F5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9DB4BF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9DB4BF"/>
                </a:solidFill>
                <a:latin typeface="Noto Sans"/>
                <a:ea typeface="Noto Sans"/>
                <a:cs typeface="Noto Sans"/>
              </a:rPr>
              <a:t>Проверенный UFI003 управляет SIM, радиорежимом, вызовами и хранилищем SMS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8A0D0-7AB9-486E-9416-52A06E96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809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D2B3E"/>
          </a:solidFill>
          <a:ln xmlns:a="http://schemas.openxmlformats.org/drawingml/2006/main" w="14288">
            <a:solidFill>
              <a:srgbClr val="31506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8AA89-FEDC-429B-83C7-E227787A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46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87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Мобильная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87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сеть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397E64-6EE2-42D0-B7C7-C882DAA9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38350"/>
            <a:ext cx="2476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8F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6E9109-CDCC-4CFB-A1FD-E33679DC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0505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650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Проверенный UFI003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650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SIM, радио и шлюз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D9E6B9-352D-4AE0-85DF-71E38BCE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2190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3C9D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F9DA6A-03BC-468E-8729-71AEA934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05050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071A2B"/>
                </a:solidFill>
                <a:latin typeface="Noto Sans"/>
                <a:ea typeface="Noto Sans"/>
                <a:cs typeface="Noto Sans"/>
              </a:defRPr>
            </a:pPr>
            <a:r>
              <a:rPr sz="1725" b="1" i="0">
                <a:solidFill>
                  <a:srgbClr val="071A2B"/>
                </a:solidFill>
                <a:latin typeface="Noto Sans"/>
                <a:ea typeface="Noto Sans"/>
                <a:cs typeface="Noto Sans"/>
              </a:rPr>
              <a:t>Защищённая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071A2B"/>
                </a:solidFill>
                <a:latin typeface="Noto Sans"/>
                <a:ea typeface="Noto Sans"/>
                <a:cs typeface="Noto Sans"/>
              </a:defRPr>
            </a:pPr>
            <a:r>
              <a:rPr sz="1725" b="1" i="0">
                <a:solidFill>
                  <a:srgbClr val="071A2B"/>
                </a:solidFill>
                <a:latin typeface="Noto Sans"/>
                <a:ea typeface="Noto Sans"/>
                <a:cs typeface="Noto Sans"/>
              </a:rPr>
              <a:t>локальная сеть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0AB44D-E909-4CD0-B623-4D385AF9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09750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A4E"/>
          </a:solidFill>
          <a:ln xmlns:a="http://schemas.openxmlformats.org/drawingml/2006/main" w="9525">
            <a:solidFill>
              <a:srgbClr val="3E66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2ECD58-21AF-42D6-94C6-D8316CB6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24150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A4E"/>
          </a:solidFill>
          <a:ln xmlns:a="http://schemas.openxmlformats.org/drawingml/2006/main" w="9525">
            <a:solidFill>
              <a:srgbClr val="3E66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709693-8C04-4749-9E3A-279E7C16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38550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A4E"/>
          </a:solidFill>
          <a:ln xmlns:a="http://schemas.openxmlformats.org/drawingml/2006/main" w="9525">
            <a:solidFill>
              <a:srgbClr val="3E66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E0C6F2-94FB-4D4D-A0ED-B7CB8164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193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Android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4D1D27-6FFD-48BE-ABD9-F6C18866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337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Linux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54635E-3E21-4830-93D7-2C49FAD1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8481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Windows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1A5FC1-AF03-4D5A-A40A-84C1E5ED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50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Голосовой путь: LTE передаёт вызов в WCDMA/HSPA для обычного вызова через 2G/3G.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E1475E-54C2-487D-B2CA-31EB7B3C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86300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C3D5DC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C3D5DC"/>
                </a:solidFill>
                <a:latin typeface="Noto Sans"/>
                <a:ea typeface="Noto Sans"/>
                <a:cs typeface="Noto Sans"/>
              </a:rPr>
              <a:t>Наличие VoLTE у оператора не создаёт рабочий IMS-стек в этом модеме.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F23CCE-99F0-4953-B0AF-B45ECD1C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625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38" b="1" i="0">
                <a:solidFill>
                  <a:srgbClr val="F4A62A"/>
                </a:solidFill>
                <a:latin typeface="Noto Sans"/>
                <a:ea typeface="Noto Sans"/>
                <a:cs typeface="Noto Sans"/>
              </a:defRPr>
            </a:pPr>
            <a:r>
              <a:rPr sz="1238" b="1" i="0">
                <a:solidFill>
                  <a:srgbClr val="F4A62A"/>
                </a:solidFill>
                <a:latin typeface="Noto Sans"/>
                <a:ea typeface="Noto Sans"/>
                <a:cs typeface="Noto Sans"/>
              </a:rPr>
              <a:t>Границы: только неэкстренные вызовы, один активный разговор и один аудиоклиент.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AEC4A1-7F2B-45A3-ACAB-9EE57B0A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102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38" b="1" i="0">
                <a:solidFill>
                  <a:srgbClr val="F4A62A"/>
                </a:solidFill>
                <a:latin typeface="Noto Sans"/>
                <a:ea typeface="Noto Sans"/>
                <a:cs typeface="Noto Sans"/>
              </a:defRPr>
            </a:pPr>
            <a:r>
              <a:rPr sz="1238" b="1" i="0">
                <a:solidFill>
                  <a:srgbClr val="F4A62A"/>
                </a:solidFill>
                <a:latin typeface="Noto Sans"/>
                <a:ea typeface="Noto Sans"/>
                <a:cs typeface="Noto Sans"/>
              </a:rPr>
              <a:t>Защищённый установщик принимает только точный профиль UFI003. Похожее оборудование отклоняется.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BA158E-B94B-4FA5-A05B-C0650944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rPr>
              <a:t>Стартап-питч TUIT, 24 сентября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1AC7B3-B772-4D9D-B043-C82E7FD7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715285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F7C9FA-4666-41A9-AB00-76905C56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3D439-B045-4DA6-B3B6-2DC47C19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3F2302-3D50-4A30-8A77-5FBAEC12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Релизные сборки и готовность платформ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A0664D-466E-4018-96A7-E6E9DADF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Артефакты подтверждены на 116de47, а продукт и презентация актуальны на 3cd8b56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85950"/>
          <a:ext xmlns:a="http://schemas.openxmlformats.org/drawingml/2006/main" cx="1097280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733800"/>
                <a:gridCol w="2000250"/>
                <a:gridCol w="3714750"/>
              </a:tblGrid>
              <a:tr h="476250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63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Платформа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63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Что поставляется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63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Подтверждение сборки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63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Оставшееся условие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</a:tr>
              <a:tr h="9239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Android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UFI Phone v0.5.0: адаптивные Calls, Keypad и Messages. Исправлена клавиатура в альбомном режиме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Собран AAB для API 36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Аккаунт издателя, ключ загрузки, формы Play и закрытый тест при необходимости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  <a:tr h="9239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Linux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Настольные звонки, SMS, история, двусторонний звук и ярлык в меню приложений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Собран x86_64-файл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Проверка поддержки на целевых дистрибутивах Linux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</a:tr>
              <a:tr h="9239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Windows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Переносимое приложение со звонками, SMS, историей и PortAudio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Собран x86_64-файл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Подпись установщика и проверка поддержки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  <a:tr h="9239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Шлюз UFI003</a:t>
                      </a:r>
                    </a:p>
                  </a:txBody>
                  <a:tcPr marL="91440" marR="91440" marT="45720" marB="45720" anchor="ctr">
                    <a:solidFill>
                      <a:srgbClr val="E8F8FA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Device doctor, защищённый установщик, звонки, SMS, звук и восстановление сети</a:t>
                      </a:r>
                    </a:p>
                  </a:txBody>
                  <a:tcPr marL="91440" marR="91440" marT="45720" marB="45720" anchor="ctr">
                    <a:solidFill>
                      <a:srgbClr val="E8F8FA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Проверен точный профиль</a:t>
                      </a:r>
                    </a:p>
                  </a:txBody>
                  <a:tcPr marL="91440" marR="91440" marT="45720" marB="45720" anchor="ctr">
                    <a:solidFill>
                      <a:srgbClr val="E8F8FA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Похожие устройства пока отклоняются</a:t>
                      </a:r>
                    </a:p>
                  </a:txBody>
                  <a:tcPr marL="91440" marR="91440" marT="45720" marB="45720" anchor="ctr">
                    <a:solidFill>
                      <a:srgbClr val="E8F8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E63E0-A1C3-4651-AEF7-207D7376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Стартап-питч TUIT, 24 сентября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B900F-2891-4821-9B3E-021C2E79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940174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3271D4-241C-4D58-96C8-9B3D2FD0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A24C3-AFFE-40D9-A365-E4226C57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D9E81-05B4-4022-8A23-B81A679F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Расходы первого года для десяти устройств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842A3D-6D5E-4BC0-B7BD-DE02B0DF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UFI Phone использует один проверенный шлюз и уже купленные экраны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A8EFF5-97AF-4174-8802-2223EF44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6600" b="1" i="0">
                <a:solidFill>
                  <a:srgbClr val="119AAA"/>
                </a:solidFill>
                <a:latin typeface="Noto Sans"/>
                <a:ea typeface="Noto Sans"/>
                <a:cs typeface="Noto Sans"/>
              </a:defRPr>
            </a:pPr>
            <a:r>
              <a:rPr sz="6600" b="1" i="0">
                <a:solidFill>
                  <a:srgbClr val="119AAA"/>
                </a:solidFill>
                <a:latin typeface="Noto Sans"/>
                <a:ea typeface="Noto Sans"/>
                <a:cs typeface="Noto Sans"/>
              </a:rPr>
              <a:t>$10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EF5FB-ADE4-422A-B015-45AD55A7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43225"/>
            <a:ext cx="309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цена купленного модема, а не серийная себестоимость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CAEBC-91BF-490A-878F-45F827F9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9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465021-0E27-40FE-B69E-6D51908C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814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4B6BFB"/>
                </a:solidFill>
                <a:latin typeface="Noto Sans"/>
                <a:ea typeface="Noto Sans"/>
                <a:cs typeface="Noto Sans"/>
              </a:defRPr>
            </a:pPr>
            <a:r>
              <a:rPr sz="1275" b="1" i="0">
                <a:solidFill>
                  <a:srgbClr val="4B6BFB"/>
                </a:solidFill>
                <a:latin typeface="Noto Sans"/>
                <a:ea typeface="Noto Sans"/>
                <a:cs typeface="Noto Sans"/>
              </a:rPr>
              <a:t>Гипотеза цены пилота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E27A36-2E6D-48FE-8446-2FD46A68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00525"/>
            <a:ext cx="333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00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500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Стартовый комплект $49 + $3 в месяц за активное устройство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00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500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= $409 в первый год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757D0B-8ABA-44FB-B806-9E87E9AC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5305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275" b="0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До запуска нужно измерить время установки, нагрузку поддержки и стоимость сопровождения профилей.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4476750" y="1857375"/>
          <a:ext xmlns:a="http://schemas.openxmlformats.org/drawingml/2006/main" cx="6953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a93d19e672249d0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1BEB16-786D-4B52-8F7D-7BC0F08E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686425"/>
            <a:ext cx="695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975" b="0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*Гипотеза, а не действующее предложение. Не включены тариф, налоги и уже имеющиеся экраны. Наборы функций различаются.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4AA21E-B798-4D67-ADB4-77B33ADE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Стартап-питч TUIT, 24 сентября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A43D43-9D89-4F3A-8CE0-2391E4AA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348976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a3cfdcb5a74d4f"/>
          <a:srcRect xmlns:a="http://schemas.openxmlformats.org/drawingml/2006/main" l="18000" t="2000" r="2000" b="2000"/>
          <a:stretch xmlns:a="http://schemas.openxmlformats.org/drawingml/2006/main"/>
        </p:blipFill>
        <p:spPr>
          <a:xfrm xmlns:a="http://schemas.openxmlformats.org/drawingml/2006/main">
            <a:off x="7762875" y="0"/>
            <a:ext cx="442912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32392-A5CD-4910-8E14-FB1B8CC3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0"/>
            <a:ext cx="1143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A2B"/>
              </a:gs>
              <a:gs pos="48000">
                <a:srgbClr val="071A2B">
                  <a:alpha val="84000"/>
                </a:srgbClr>
              </a:gs>
              <a:gs pos="100000">
                <a:srgbClr val="071A2B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6F7223-35EF-4CB7-BA57-C13375BA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9167A-57D1-40E8-A5ED-9FB50953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9DB4BF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9DB4BF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82CEE7-074D-41BB-844F-7EC65364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28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Первый рынок в Узбекистане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502CA4-A3F2-48FC-81A1-67C82241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9DB4BF"/>
                </a:solidFill>
                <a:latin typeface="Noto Sans"/>
                <a:ea typeface="Noto Sans"/>
                <a:cs typeface="Noto Sans"/>
              </a:defRPr>
            </a:pPr>
            <a:r>
              <a:rPr sz="1275" b="0" i="0">
                <a:solidFill>
                  <a:srgbClr val="9DB4BF"/>
                </a:solidFill>
                <a:latin typeface="Noto Sans"/>
                <a:ea typeface="Noto Sans"/>
                <a:cs typeface="Noto Sans"/>
              </a:rPr>
              <a:t>Выход на рынок начинается с одного проверенного оператора и точного профиля устройства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B45949-0DEC-4615-A16A-911C975F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750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3750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36,35 млн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3A8C79-836A-419D-988E-A97C69CA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764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38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мобильных подключений в Узбекистане на 1 апреля 2025 года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F037B-7764-470A-9059-3AC82095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946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450F81-5E6C-44E5-A547-773BE989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ПЕРВЫЕ КЛИЕНТЫ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8A21FF-0E93-4DA9-8865-88ED4258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3C9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FAC405-930F-4577-B5B5-EC444788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88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388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Магазины и сервисные точки с одним публичным номером на Wi-Fi-экранах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E057F1-F77A-46CE-A12B-81883156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3C9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B51B62-B588-469C-9F63-854852D0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88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388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Офисы и лаборатории в кампусе, где SIM нужна на планшетах и ПК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EE1415-9C60-4B3F-BC7E-58AC1DAB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3C9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91133D-C781-4E5D-A36A-DF9D2F11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88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388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Выездные площадки, где стационарная АТС или полный UCaaS избыточны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E64F5E-610A-4812-B47A-FA4AFABE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9465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F5904B-36BB-43E7-97AC-0D6A47BC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4A62A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F4A62A"/>
                </a:solidFill>
                <a:latin typeface="Noto Sans"/>
                <a:ea typeface="Noto Sans"/>
                <a:cs typeface="Noto Sans"/>
              </a:rPr>
              <a:t>ВЫХОД НА РЫНОК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98C829-2284-46FF-99F6-E5384426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638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27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Начать с платных пилотов Ucell на проверенном UFI003.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27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Добавлять операторов только после проверки SIM и тарифа.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27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Гипотеза канала: продавцы модемов и локальные ИТ-интеграторы.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462B79-C2D5-4827-BEE6-FDD5ACF2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rPr>
              <a:t>Стартап-питч TUIT, 24 сентября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C1A06F-762A-42CD-B588-476402CA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700483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5AFD54-76C1-49DC-8366-98E342E8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EBD559-EE15-4F9E-9241-63DC7BF6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20C81F-7BB2-4E11-BECE-1BD2046B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Совместимость с операторами Узбекистана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EECB47-648E-4E9E-ABB8-E812E2F7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VoLTE в сети оператора не означает поддержку IMS внутри этого UFI003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28800"/>
          <a:ext xmlns:a="http://schemas.openxmlformats.org/drawingml/2006/main" cx="10972800" cy="4343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2857500"/>
                <a:gridCol w="4305300"/>
                <a:gridCol w="2476500"/>
              </a:tblGrid>
              <a:tr h="4572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Оператор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Данные о сети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Данные по UFI003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Коммерческое заявление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</a:tr>
              <a:tr h="6477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Ucell</a:t>
                      </a:r>
                    </a:p>
                  </a:txBody>
                  <a:tcPr marL="91440" marR="91440" marT="45720" marB="45720" anchor="ctr">
                    <a:solidFill>
                      <a:srgbClr val="E8F6E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Официальная услуга VoLTE</a:t>
                      </a:r>
                    </a:p>
                  </a:txBody>
                  <a:tcPr marL="91440" marR="91440" marT="45720" marB="45720" anchor="ctr">
                    <a:solidFill>
                      <a:srgbClr val="E8F6E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Проверены LTE, SMS, звонки и двусторонний звук. Голос уходит в WCDMA/HSPA</a:t>
                      </a:r>
                    </a:p>
                  </a:txBody>
                  <a:tcPr marL="91440" marR="91440" marT="45720" marB="45720" anchor="ctr">
                    <a:solidFill>
                      <a:srgbClr val="E8F6E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Опорный оператор</a:t>
                      </a:r>
                    </a:p>
                  </a:txBody>
                  <a:tcPr marL="91440" marR="91440" marT="45720" marB="45720" anchor="ctr">
                    <a:solidFill>
                      <a:srgbClr val="E8F6EF"/>
                    </a:solidFill>
                  </a:tcPr>
                </a:tc>
              </a:tr>
              <a:tr h="6477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Mobiuz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Страница VoLTE описывает возврат в 2G/3G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SIM проекта ещё не проверена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Проверить SIM и тариф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</a:tr>
              <a:tr h="6477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Uzmobile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Страница VoLTE описывает переход в 2G/3G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SIM проекта ещё не проверена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Проверить SIM, APN и возврат в LTE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  <a:tr h="6477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Beeline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VoLTE для совместимых USIM и устройств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IMS модема не работает. Обычный голосовой путь не проверен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Проверить нужный тариф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</a:tr>
              <a:tr h="6477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Humans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Сервис работает в сети Uzmobile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Настройки MVNO ещё не проверены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Тестировать отдельно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  <a:tr h="6477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Perfectum</a:t>
                      </a:r>
                    </a:p>
                  </a:txBody>
                  <a:tcPr marL="91440" marR="91440" marT="45720" marB="45720" anchor="ctr">
                    <a:solidFill>
                      <a:srgbClr val="FDEEEE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CDMA и устройства 5G SA/VoNR</a:t>
                      </a:r>
                    </a:p>
                  </a:txBody>
                  <a:tcPr marL="91440" marR="91440" marT="45720" marB="45720" anchor="ctr">
                    <a:solidFill>
                      <a:srgbClr val="FDEEEE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Несовместимо с этим точным UFI003</a:t>
                      </a:r>
                    </a:p>
                  </a:txBody>
                  <a:tcPr marL="91440" marR="91440" marT="45720" marB="45720" anchor="ctr">
                    <a:solidFill>
                      <a:srgbClr val="FDEEEE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Не поддерживается этим модемом</a:t>
                      </a:r>
                    </a:p>
                  </a:txBody>
                  <a:tcPr marL="91440" marR="91440" marT="45720" marB="45720" anchor="ctr">
                    <a:solidFill>
                      <a:srgbClr val="FDEEE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B0E75-82F9-4A30-A035-3927D8EE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Стартап-питч TUIT, 24 сентября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EDCC8D-EF61-4FF6-B312-0D2F0FD4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161092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E796EE-6D16-46FD-834C-BA3C256B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0E8847-0E73-485E-ADFB-F1CB85E0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9DB4BF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9DB4BF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B99DE3-59FF-4706-92CF-ABB21448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322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План коммерциализации на 90 дней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CFE1A-416B-4647-A99D-0CBBFC20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9DB4BF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9DB4BF"/>
                </a:solidFill>
                <a:latin typeface="Noto Sans"/>
                <a:ea typeface="Noto Sans"/>
                <a:cs typeface="Noto Sans"/>
              </a:rPr>
              <a:t>Релизные сборки готовы. Пилот теперь зависит от операторских тестов и условий публикации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D28A40-C7D6-4E5C-80F0-2EBE5F5F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ДНИ 0–30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486090-BF64-415E-B1F0-291E1866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57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57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Релиз и измерения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C7415D-260F-4030-9B24-FA253D1F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3C9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54CAB-4407-4DB7-AAF8-98C33884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3143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Аккаунт Play, служебная почта и ключ загрузки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Play App Signing и формы магазина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12 тестировщиков на 14 дней, если правило применимо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Подписанный релиз и синтетические материалы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291806-C9A2-491C-BF4E-FBF7591A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24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4B6BFB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4B6BFB"/>
                </a:solidFill>
                <a:latin typeface="Noto Sans"/>
                <a:ea typeface="Noto Sans"/>
                <a:cs typeface="Noto Sans"/>
              </a:rPr>
              <a:t>ДНИ 31–60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005E37-B3A0-4EE8-B64D-28093F1F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57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57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Проверка операторов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E1F799-B566-41E6-8864-EB235331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146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B6BF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11A51D-A391-4352-AA7D-4916E6DF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05150"/>
            <a:ext cx="3143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Mobiuz, Uzmobile, Beeline и Humans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Матрица SIM и тарифов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Десять холодных запусков на оператора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Звонки, звук, SMS и возврат в LTE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6CF7D1-9CD5-4E43-9007-9C18E2FD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24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4A62A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F4A62A"/>
                </a:solidFill>
                <a:latin typeface="Noto Sans"/>
                <a:ea typeface="Noto Sans"/>
                <a:cs typeface="Noto Sans"/>
              </a:rPr>
              <a:t>ДНИ 61–90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B67699-AE1B-4A09-949E-E673D395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669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57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57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Пилот и расширение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87ECA6-84B6-41B0-A312-AD34BED1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A62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76EC77-2C79-4DA1-8728-936E61E2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05150"/>
            <a:ext cx="3143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Три платные площадки Ucell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Метрики установки, пропусков и поддержки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Доработать интерфейс Phone и звонки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Профиль второго модема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Старт общего протокола для macOS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908A20-8F12-42CB-BB83-72FA459D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9728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11F1D"/>
          </a:solidFill>
          <a:ln xmlns:a="http://schemas.openxmlformats.org/drawingml/2006/main" w="12383">
            <a:solidFill>
              <a:srgbClr val="7B4D4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70A12C-F0AF-4E99-A5A0-C42EC46E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7202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13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D5CE"/>
                </a:solidFill>
                <a:latin typeface="Noto Sans"/>
                <a:ea typeface="Noto Sans"/>
                <a:cs typeface="Noto Sans"/>
              </a:defRPr>
            </a:pPr>
            <a:r>
              <a:rPr sz="1275" b="1" i="0">
                <a:solidFill>
                  <a:srgbClr val="FFD5CE"/>
                </a:solidFill>
                <a:latin typeface="Noto Sans"/>
                <a:ea typeface="Noto Sans"/>
                <a:cs typeface="Noto Sans"/>
              </a:rPr>
              <a:t>Коммерческие риски: доступность 2G/3G, согласование оператора и тарифа, привилегированная подпись шлюза и проверка Google Play.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5242BA-3964-4CC4-B356-DBEE6FB2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ПЛАН APPLE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51909E-D943-4D56-8A7B-8FC1C079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600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40" b="0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140" b="0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Сначала macOS. Затем iPadOS для звонков и SMS на переднем плане. Надёжный фон требует корректного push-сервиса и добавляет облачную зависимость.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E6F8BC-4EEC-40A3-9CDE-6DDFE18C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5435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4A62A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F4A62A"/>
                </a:solidFill>
                <a:latin typeface="Noto Sans"/>
                <a:ea typeface="Noto Sans"/>
                <a:cs typeface="Noto Sans"/>
              </a:rPr>
              <a:t>ЗАПРОС К TUIT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2C7E14-D16A-4035-B250-C6012262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5054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63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163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Наставник по телекоммуникациям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63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163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SIM-карты четырёх операторов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63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163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Три пилотные площадки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63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163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Группа тестировщиков Play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445029-C335-4D6B-AD4A-3D3EEADC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rPr>
              <a:t>Стартап-питч TUIT, 24 сентября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62416E-BD6B-4CA2-802F-EAF4C33A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572786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2026-09-24T12:03:50.5320000Z</dcterms:created>
  <dcterms:modified xsi:type="dcterms:W3CDTF">2026-09-24T12:03:50.5320000Z</dcterms:modified>
</coreProperties>
</file>