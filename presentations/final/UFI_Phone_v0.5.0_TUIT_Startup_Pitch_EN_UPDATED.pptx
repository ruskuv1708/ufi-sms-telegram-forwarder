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91e88fc474055" /><Relationship Type="http://schemas.openxmlformats.org/officeDocument/2006/relationships/extended-properties" Target="/docProps/app.xml" Id="Re2ae6c9ac42c452d" /><Relationship Type="http://schemas.openxmlformats.org/officeDocument/2006/relationships/officeDocument" Target="/ppt/presentation.xml" Id="Rb2d405feddef41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a1b9d14a24a3f"/>
  </p:sldMasterIdLst>
  <p:notesMasterIdLst>
    <p:notesMasterId xmlns:r="http://schemas.openxmlformats.org/officeDocument/2006/relationships" r:id="Rb185e99bbab74b97"/>
  </p:notesMasterIdLst>
  <p:sldIdLst>
    <p:sldId xmlns:r="http://schemas.openxmlformats.org/officeDocument/2006/relationships" id="256" r:id="R4f9e96330b694c7f"/>
    <p:sldId xmlns:r="http://schemas.openxmlformats.org/officeDocument/2006/relationships" id="257" r:id="R07f4b372fbc74c65"/>
    <p:sldId xmlns:r="http://schemas.openxmlformats.org/officeDocument/2006/relationships" id="258" r:id="R8815f9dbf22c4c69"/>
    <p:sldId xmlns:r="http://schemas.openxmlformats.org/officeDocument/2006/relationships" id="259" r:id="Rc5c01df7cef646ca"/>
    <p:sldId xmlns:r="http://schemas.openxmlformats.org/officeDocument/2006/relationships" id="260" r:id="Re3c117f3ba0a434c"/>
    <p:sldId xmlns:r="http://schemas.openxmlformats.org/officeDocument/2006/relationships" id="261" r:id="Rebcf17f6278e4931"/>
    <p:sldId xmlns:r="http://schemas.openxmlformats.org/officeDocument/2006/relationships" id="262" r:id="R43c6774987984d6d"/>
    <p:sldId xmlns:r="http://schemas.openxmlformats.org/officeDocument/2006/relationships" id="263" r:id="R20d2795ed7fe44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f9fd805274d2e" /><Relationship Type="http://schemas.openxmlformats.org/officeDocument/2006/relationships/slideMaster" Target="/ppt/slideMasters/slideMaster1.xml" Id="Rf51a1b9d14a24a3f" /><Relationship Type="http://schemas.openxmlformats.org/officeDocument/2006/relationships/notesMaster" Target="/ppt/notesMasters/notesMaster1.xml" Id="Rb185e99bbab74b97" /><Relationship Type="http://schemas.openxmlformats.org/officeDocument/2006/relationships/presProps" Target="/ppt/presProps.xml" Id="Rc6606c12b459403e" /><Relationship Type="http://schemas.openxmlformats.org/officeDocument/2006/relationships/tableStyles" Target="/ppt/tableStyles.xml" Id="Re9a4878b032148d3" /><Relationship Type="http://schemas.openxmlformats.org/officeDocument/2006/relationships/slide" Target="/ppt/slides/slide1.xml" Id="R4f9e96330b694c7f" /><Relationship Type="http://schemas.openxmlformats.org/officeDocument/2006/relationships/slide" Target="/ppt/slides/slide2.xml" Id="R07f4b372fbc74c65" /><Relationship Type="http://schemas.openxmlformats.org/officeDocument/2006/relationships/slide" Target="/ppt/slides/slide3.xml" Id="R8815f9dbf22c4c69" /><Relationship Type="http://schemas.openxmlformats.org/officeDocument/2006/relationships/slide" Target="/ppt/slides/slide4.xml" Id="Rc5c01df7cef646ca" /><Relationship Type="http://schemas.openxmlformats.org/officeDocument/2006/relationships/slide" Target="/ppt/slides/slide5.xml" Id="Re3c117f3ba0a434c" /><Relationship Type="http://schemas.openxmlformats.org/officeDocument/2006/relationships/slide" Target="/ppt/slides/slide6.xml" Id="Rebcf17f6278e4931" /><Relationship Type="http://schemas.openxmlformats.org/officeDocument/2006/relationships/slide" Target="/ppt/slides/slide7.xml" Id="R43c6774987984d6d" /><Relationship Type="http://schemas.openxmlformats.org/officeDocument/2006/relationships/slide" Target="/ppt/slides/slide8.xml" Id="R20d2795ed7fe44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edac34a98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197c9363d46a8" /><Relationship Type="http://schemas.openxmlformats.org/officeDocument/2006/relationships/notesMaster" Target="/ppt/notesMasters/notesMaster1.xml" Id="R4024810edbf343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e21cf9885440e" /><Relationship Type="http://schemas.openxmlformats.org/officeDocument/2006/relationships/notesMaster" Target="/ppt/notesMasters/notesMaster1.xml" Id="Rdfb8b05cec17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1dff912b82492d" /><Relationship Type="http://schemas.openxmlformats.org/officeDocument/2006/relationships/notesMaster" Target="/ppt/notesMasters/notesMaster1.xml" Id="R94925399ce98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1c72f0aa324dd4" /><Relationship Type="http://schemas.openxmlformats.org/officeDocument/2006/relationships/notesMaster" Target="/ppt/notesMasters/notesMaster1.xml" Id="Rccd719db4ea5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bc9b6c464847a8" /><Relationship Type="http://schemas.openxmlformats.org/officeDocument/2006/relationships/notesMaster" Target="/ppt/notesMasters/notesMaster1.xml" Id="R7e19fc5a258e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8ca7683224211" /><Relationship Type="http://schemas.openxmlformats.org/officeDocument/2006/relationships/notesMaster" Target="/ppt/notesMasters/notesMaster1.xml" Id="Rfd264c01f6264a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9513af56664859" /><Relationship Type="http://schemas.openxmlformats.org/officeDocument/2006/relationships/notesMaster" Target="/ppt/notesMasters/notesMaster1.xml" Id="R8ccbbb7351db4c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966f22eecd4bc5" /><Relationship Type="http://schemas.openxmlformats.org/officeDocument/2006/relationships/notesMaster" Target="/ppt/notesMasters/notesMaster1.xml" Id="R3ba42fe64eb7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evidence: UFI Phone v0.5.0 at repository commit 3cd8b565191dec47d1df9f079d8dd2b0ecd5529b.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direct local SMS receive/read/send, incoming and outgoing ordinary carrier calls, two-way audio, incoming-call UI, call history, network-mode health and recovery.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https://github.com/Ruskuv1708/ufi-sms-telegram-forwarder/blob/3cd8b565191dec47d1df9f079d8dd2b0ecd5529b/docs/product-vision.md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real phone numbers, SMS content, tokens or private screenshots are included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boundary: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https://github.com/Ruskuv1708/ufi-sms-telegram-forwarder/blob/3cd8b565191dec47d1df9f079d8dd2b0ecd5529b/hardware-profiles.json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evidence: GitHub Actions run #3 for build commit 116de4779f0a3eed155390c43de84b1bb24f3df5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repository state is 3cd8b565191dec47d1df9f079d8dd2b0ecd5529b. It consolidates the product, presentation source and release-artifact documentation in one workspace.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Play.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https://github.com/Ruskuv1708/ufi-sms-telegram-forwarder/blob/3cd8b565191dec47d1df9f079d8dd2b0ecd5529b/docs/adding-hardware-profiles.md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assumptions:</a:t>
            </a:r>
          </a:p>
          <a:p xmlns:a="http://schemas.openxmlformats.org/drawingml/2006/main">
            <a:r>
              <a:t>- Apple showed a $150 difference between Wi-Fi and Wi-Fi + Cellular at the same base iPad storage tier on 24 September 2026. Ten devices add $1,500. https://www.apple.com/shop/buy-ipad/ipad</a:t>
            </a:r>
          </a:p>
          <a:p xmlns:a="http://schemas.openxmlformats.org/drawingml/2006/main">
            <a:r>
              <a:t>- RingCentral Essentials started at $19.99 per user each month with annual billing on 24 September 2026. Ten users for 12 months cost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set.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evidence: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evidence: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Publisher and platform sources: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https://github.com/Ruskuv1708/ufi-sms-telegram-forwarder/blob/3cd8b565191dec47d1df9f079d8dd2b0ecd5529b/docs/apple-platform-roadmap.md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fd88394f9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bf6a9db1a4d5b" /><Relationship Type="http://schemas.openxmlformats.org/officeDocument/2006/relationships/slideLayout" Target="/ppt/slideLayouts/slideLayout1.xml" Id="Rfcbf4e5a41ba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f4e5a41ba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7be9e9464ff4" /><Relationship Type="http://schemas.openxmlformats.org/officeDocument/2006/relationships/image" Target="/ppt/media/image.png" Id="Rb45ffd1601664022" /><Relationship Type="http://schemas.openxmlformats.org/officeDocument/2006/relationships/image" Target="/ppt/media/image2.png" Id="R8955873dffd040dc" /><Relationship Type="http://schemas.openxmlformats.org/officeDocument/2006/relationships/notesSlide" Target="/ppt/notesSlides/notesSlide1.xml" Id="R083ff42a79c84b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db478946f4763" /><Relationship Type="http://schemas.openxmlformats.org/officeDocument/2006/relationships/notesSlide" Target="/ppt/notesSlides/notesSlide2.xml" Id="R6988ac8ca000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f7e3d22de4c63" /><Relationship Type="http://schemas.openxmlformats.org/officeDocument/2006/relationships/notesSlide" Target="/ppt/notesSlides/notesSlide3.xml" Id="R1bb7d58e80fe4d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d967d702742e2" /><Relationship Type="http://schemas.openxmlformats.org/officeDocument/2006/relationships/notesSlide" Target="/ppt/notesSlides/notesSlide4.xml" Id="Rf6b9c606b2e044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80a65605147f9" /><Relationship Type="http://schemas.openxmlformats.org/officeDocument/2006/relationships/chart" Target="/ppt/slides/charts/chart1.xml" Id="R8bdb4f45a369445c" /><Relationship Type="http://schemas.openxmlformats.org/officeDocument/2006/relationships/notesSlide" Target="/ppt/notesSlides/notesSlide5.xml" Id="Re498782ffac94b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6fc51f1a64b64" /><Relationship Type="http://schemas.openxmlformats.org/officeDocument/2006/relationships/image" Target="/ppt/media/image3.png" Id="Rbdf8a16784e74413" /><Relationship Type="http://schemas.openxmlformats.org/officeDocument/2006/relationships/notesSlide" Target="/ppt/notesSlides/notesSlide6.xml" Id="Rd423842e84244f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80fb90e5a4b1d" /><Relationship Type="http://schemas.openxmlformats.org/officeDocument/2006/relationships/notesSlide" Target="/ppt/notesSlides/notesSlide7.xml" Id="Rb05380defdfd46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c9c6b4b14ca8" /><Relationship Type="http://schemas.openxmlformats.org/officeDocument/2006/relationships/notesSlide" Target="/ppt/notesSlides/notesSlide8.xml" Id="Rb662ea6ec72148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UFI Phone pilot target*</c:v>
              </c:pt>
              <c:pt idx="1">
                <c:v>Apple cellular premium ×10</c:v>
              </c:pt>
              <c:pt idx="2">
                <c:v>RingCentral Essentials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ffd16016640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E18EE-5CD0-456A-BB99-1483D93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873dffd040dc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1B94C-FFEE-45C2-B41F-47BC7D08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0CB3-A408-4319-A7E9-A7EC209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DFE3B-B65C-4475-B9D1-2B9BBA2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Private carrier calls and SMS on the screens you already 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C2391-76E8-4AD0-80C4-78A59C9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5BB5D-28DB-4C3A-86A2-BBB3C47F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Tested UFI003 profile with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EE208-CE0F-4D6E-BE47-ED976FF4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Android, Linux and Windows release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3FE48-36D6-4AFF-B591-2B8022E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TUIT startup pitch  /  24 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2FFBB-BAC6-4E71-A75E-CD972F79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896030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BD122-70DF-4DA1-9077-4B5F34B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283A9-7E7B-4006-B134-BCF94B0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3ECE6-FA8E-44DC-9A3B-24E08E95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E3D7E-CACE-403D-B78C-A6D468F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Product proof in v0.5.0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85763-F5FC-4654-937D-1532936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local gateway now covers the everyday calling and messaging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58914-F09F-48FE-91CC-A381D88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CALLS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6B432-7ECD-4986-96BA-DAF383A0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61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2-way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90FE4-65FE-4740-9DE4-E85AC8D2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Incoming and outgoing ordinary carrier calls with answer, hang up and duplex audio.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CDAF2-530C-4091-BA64-94EA39C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Incoming-call UI and local call history are complete.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EE827-D129-45C5-9299-F68DB54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MESSAGES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0573B-DD7A-4E5C-8B31-4AA29C4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8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58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6011F-54EB-4A04-BBFB-513D768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Receive, read and send SMS directly over the modem's private 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BB85D-9224-4CFD-BD07-4C163B41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Telegram is optional and disabled by default.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28E41-320B-4900-BFA4-B5DD6E94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B4EA2-6E5E-416E-B82A-3DB8C74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1043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Network-mode health and automatic recovery keep incoming-call fallback ready after reboot.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F1834-CB05-4B3C-8AA0-5403A37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70300-74C2-4E73-94D9-C55D8919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3996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89A8D-B10A-46CB-8171-E423D85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F203-35DB-4E31-AD0B-8EC4624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ECE65-8725-449C-B40E-3FE23515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Product architecture and technical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3A186-DE79-4A55-AA33-623DFBF9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The tested UFI003 owns the SIM, radio state, carrier call and SMS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570E0-5102-46BF-9986-1725FB8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7FB54-E9EC-464F-A5D3-CF24039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48A20-EFC6-4F23-B87C-7007133F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4CB40-0794-45CF-9565-1636D079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Tested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SIM, radio and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63928-2A87-4567-8DCA-6111AB7B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5E01F-C6EC-48DA-A19C-C8770A4D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Authenticated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private 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E7A0B-952A-4296-9A20-E6E0500A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44BF3-D6BF-4862-9066-1636277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2504F-3F38-43A2-89F2-A1FF759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C0C70-04FA-4344-85FC-9BD0A2E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89E2A-E41E-4E43-B878-7C59DAF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4FFCF-D632-452A-8787-90B90873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B34FE-E31E-42FE-AE82-E544E02B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Voice path: LTE data hands the call to WCDMA/HSPA for 2G/3G circuit-switched audio.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25976-E74A-461A-B00D-315354BA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Operator VoLTE availability does not give this modem a usable IMS stack.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893D9-8D65-4FD2-8FC9-8015B36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Scope: non-emergency ordinary calls only, one active call and one audio client.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CAE19-52F4-43E7-BDE4-FCACEB9E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The guarded installer accepts the exact tested UFI003 profile. Look-alike hardware is refused.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BDD98-C663-47C5-89B6-3733A95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95B63-3338-457C-BB39-EA7514B0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8420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1081A-6F62-4817-8FBF-DCB96C11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2F48F-6F04-4953-AC5A-14FF027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B7EF1-E72E-46D1-A230-B1E9A02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Release packaging and platform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9C7B8-69BF-4943-AB23-4979F23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Artifacts verified at 116de47, with the product and deck workspace current at 3cd8b56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Platform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ships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Built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Remaining gate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 with responsive Calls, Keypad and Messages UI. Landscape keypad fixed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API 36 AAB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Publisher account, upload signing, Play forms and closed test if applicable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Desktop calls, SMS, local history, two-way audio and an application menu launcher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Support QA on target Linux distributions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Portable desktop app with calls, SMS, history and PortAudio support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Installer signing and support QA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gateway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guarded installer, calls, SMS, audio and radio recovery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Exact profile tested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Near-match hardware remains refused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94EE-FD21-4147-8778-A4F97F1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F7981-061E-4160-9E84-1B35CC8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533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D3CDB-258D-4868-8BCE-851FA29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E497-78E8-43AD-8194-4D5A3C9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7015F-4B85-45C2-ACF3-1D090590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First-year cost benchmark for ten devices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571E8-7C4B-43B6-8FAD-0901376B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uses one tested gateway and screens the organization already 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4C9F6-1197-4343-8F7F-01B446C4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9186E-CA58-496E-BD44-4DAF1CA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founder purchase price for the tested modem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38E2D-45F1-4E57-9DE9-5FF32DB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86846-82DD-4125-94C7-FA5E1DE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Pilot pricing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94CDE-76E9-43AD-83BF-2F799F0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$49 starter kit + $3 per active device each month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in year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44F38-6B8C-41DE-9B75-FD45D56F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pilot must measure installer time, support workload and profile-maintenance cost before launch pricing is set.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db4f45a369445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66076-B92B-4AB2-9EAE-F9FCAFFF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*Hypothesis, not a launched offer. Carrier plan, taxes and existing screens are excluded. The products do not provide the same feature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5498D-C862-40D0-9AF6-2C3A856D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13B01-447F-4388-8503-97C3CB25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3485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a16784e74413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CCEE8-0707-4145-AD65-D4BF678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3ACFE-6E69-4445-B873-D0E03ED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C4EB1-B09C-41B4-9F47-A3A6FBDA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B6560-93E3-47E7-9D24-9075E1F4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Uzbekistan launch 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7509B-1D76-47F6-A1A0-6F12519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Start with one tested operator and one exact device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3E792-7B87-4785-A7F0-B12CDAE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36.35M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22B81-28DA-4296-99A4-EA41B60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mobile subscriptions in Uzbekistan as of 1 April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7FE70-8112-4B0A-A2C2-BE911F6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9CDF4-6F67-4B76-878F-F2534F83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INITIAL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807C3-EE86-497B-A49A-7C3A348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9BD10-600C-4D18-9D99-BCC30056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Retail and service desks using one public number on existing Wi-Fi screens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65593-B06A-4C39-8CF1-B5C1D5F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38175-1EC0-4E9D-92EF-20DD2C6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Campus offices and labs that need a departmental SIM on tablets and PCs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7098D-0139-46AE-9A5F-C3FFE24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C9E9B-A54D-4DB7-B9D1-C7766D1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Field sites where a fixed PBX or a full UCaaS suite is disproportionate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43F17-8C18-41D7-B69D-9F3C1AA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C22C8-02CE-4794-BEEE-2F92C90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GO TO MARKET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F1EE3-2231-48E9-A326-A22AD037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Start with paid Ucell pilots on the tested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Add operators only after SIM and tariff acceptance.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Channel hypothesis: modem resellers and local IT installers.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A0718-6283-4809-8E97-3641299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FD25F-9549-4783-AE7A-FE3FB09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3157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F532A-80DB-49B0-9914-1885D51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60F10-F511-47C6-B245-5F5251AB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94C09-A5C1-42F9-8F76-22EEB60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Uzbekistan operator compatibility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0FB8D-4831-443B-BB1B-B445FBA6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on the operator network is separate from IMS support inside this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Operator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Network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Commercial claim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Official VoLTE offer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Tested: LTE data, SMS, calls and two-way audio. Voice falls back to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Reference operator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fallback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 and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handover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SIM, APN and LTE return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for compatible USIM and device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Modem IMS unusable. Circuit-switched path untested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intended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Mobile service uses the Uzmobile network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MVNO provisioning remains untested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separately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and 5G SA/VoNR device paths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Incompatible with this exact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Unsupported on this hardware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6FE64-314A-4696-B784-DE57A49A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68884-AAF9-49F9-BB8F-C1B30A9A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309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53AAC-9AFE-4CF0-A915-1E132097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42F51-39D0-48B7-9CF1-4890E26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391DA-E194-46CC-93B5-B181283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90-day commercialization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C47CB-5CA1-4531-A264-737337F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Release packaging is ready. Operator acceptance and publisher prerequisites now determine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07172-5B9F-43AE-8B68-F7B6D31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DAYS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25595-6285-4C59-ADB5-E360F45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Release and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96AEA-1FDC-4E4C-815F-8E0E3E22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4DC2D-A180-4A31-BFFB-04A943F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account, support email and upload key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and store declarations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testers for 14 days if the new-account rule applies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Signed release tag with synthetic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78B05-7D9E-4D39-AF90-6328CF67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DAYS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5DA4D-37E1-414D-A898-48122E7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Operator acceptance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1C321-80EC-40DF-93F8-00BB2AA2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94E11-4BE3-4B1A-9C4C-827F559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and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SIM and tariff matrix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Ten cold boots per operator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Calls, audio, SMS and return to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BBD9D-397A-4C6C-95C1-A9F4B1C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DAYS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8074-33D4-42C2-9692-22E4E76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Pilot and 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DC8F7-CE3F-408A-AA57-757AA1A7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DF9A7-62BF-4147-918C-99E2E1B5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Three paid Ucell sites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Measure setup, missed events and support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Improve Phone UX and calling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Profile a second modem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Start the macOS protocol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FB84E-1FF4-4C2D-BB5B-349DEEEA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C148F-E524-4C14-9E01-C2B6906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Commercial risks: 2G/3G fallback availability, operator and tariff approval, privileged gateway signing, and Play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7518A-AC45-44DF-A5D0-E4257E0C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APPLE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37381-F57F-4E64-B616-E9727674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macOS first. iPadOS follows for foreground calls and SMS. Reliable background ringing needs compliant push and adds a cloud dependency.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C9450-E0AE-446B-90EB-43D6600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TUIT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FD69F-4FFD-43FC-917A-362BFA79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Telecom mentor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Four operator SIMs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Three pilot sites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Play tester cohort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D9C8E-0C1B-4A54-AF64-0BC40DF9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1098C-A5B0-4DCF-A4F5-71BC537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4343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2026-09-24T12:03:39.9870000Z</dcterms:created>
  <dcterms:modified xsi:type="dcterms:W3CDTF">2026-09-24T12:03:39.9870000Z</dcterms:modified>
</coreProperties>
</file>